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6" name="Shape 8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Helvetica Neue"/>
      </a:defRPr>
    </a:lvl1pPr>
    <a:lvl2pPr indent="228600" latinLnBrk="0">
      <a:defRPr sz="1200">
        <a:latin typeface="+mj-lt"/>
        <a:ea typeface="+mj-ea"/>
        <a:cs typeface="+mj-cs"/>
        <a:sym typeface="Helvetica Neue"/>
      </a:defRPr>
    </a:lvl2pPr>
    <a:lvl3pPr indent="457200" latinLnBrk="0">
      <a:defRPr sz="1200">
        <a:latin typeface="+mj-lt"/>
        <a:ea typeface="+mj-ea"/>
        <a:cs typeface="+mj-cs"/>
        <a:sym typeface="Helvetica Neue"/>
      </a:defRPr>
    </a:lvl3pPr>
    <a:lvl4pPr indent="685800" latinLnBrk="0">
      <a:defRPr sz="1200">
        <a:latin typeface="+mj-lt"/>
        <a:ea typeface="+mj-ea"/>
        <a:cs typeface="+mj-cs"/>
        <a:sym typeface="Helvetica Neue"/>
      </a:defRPr>
    </a:lvl4pPr>
    <a:lvl5pPr indent="914400" latinLnBrk="0">
      <a:defRPr sz="1200">
        <a:latin typeface="+mj-lt"/>
        <a:ea typeface="+mj-ea"/>
        <a:cs typeface="+mj-cs"/>
        <a:sym typeface="Helvetica Neue"/>
      </a:defRPr>
    </a:lvl5pPr>
    <a:lvl6pPr indent="1143000" latinLnBrk="0">
      <a:defRPr sz="1200">
        <a:latin typeface="+mj-lt"/>
        <a:ea typeface="+mj-ea"/>
        <a:cs typeface="+mj-cs"/>
        <a:sym typeface="Helvetica Neue"/>
      </a:defRPr>
    </a:lvl6pPr>
    <a:lvl7pPr indent="1371600" latinLnBrk="0">
      <a:defRPr sz="1200">
        <a:latin typeface="+mj-lt"/>
        <a:ea typeface="+mj-ea"/>
        <a:cs typeface="+mj-cs"/>
        <a:sym typeface="Helvetica Neue"/>
      </a:defRPr>
    </a:lvl7pPr>
    <a:lvl8pPr indent="1600200" latinLnBrk="0">
      <a:defRPr sz="1200">
        <a:latin typeface="+mj-lt"/>
        <a:ea typeface="+mj-ea"/>
        <a:cs typeface="+mj-cs"/>
        <a:sym typeface="Helvetica Neue"/>
      </a:defRPr>
    </a:lvl8pPr>
    <a:lvl9pPr indent="1828800" latinLnBrk="0">
      <a:defRPr sz="1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914400" y="2125979"/>
            <a:ext cx="10363200" cy="144018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828800" y="3840479"/>
            <a:ext cx="8534400" cy="171450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1884045" y="-55880"/>
            <a:ext cx="8244841" cy="1647826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xfrm>
            <a:off x="1282952" y="1478280"/>
            <a:ext cx="9636126" cy="455295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1884045" y="-55880"/>
            <a:ext cx="8244841" cy="1647826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idx="1"/>
          </p:nvPr>
        </p:nvSpPr>
        <p:spPr>
          <a:xfrm>
            <a:off x="1282952" y="1478280"/>
            <a:ext cx="9636126" cy="455295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xfrm>
            <a:off x="1884045" y="-55880"/>
            <a:ext cx="8244841" cy="1647826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09600" y="1577339"/>
            <a:ext cx="5303521" cy="452628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1884045" y="-55880"/>
            <a:ext cx="8244841" cy="1647826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4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>
            <a:spLocks noGrp="1"/>
          </p:cNvSpPr>
          <p:nvPr>
            <p:ph type="title"/>
          </p:nvPr>
        </p:nvSpPr>
        <p:spPr>
          <a:xfrm>
            <a:off x="1884045" y="-55880"/>
            <a:ext cx="8244841" cy="1647826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5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325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315427" y="6377940"/>
            <a:ext cx="266974" cy="2794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r">
              <a:defRPr>
                <a:solidFill>
                  <a:srgbClr val="888888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1" i="0" u="none" strike="noStrike" cap="none" spc="0" baseline="0">
          <a:solidFill>
            <a:srgbClr val="FF0000"/>
          </a:solidFill>
          <a:uFillTx/>
          <a:latin typeface="Times New Roman"/>
          <a:ea typeface="Times New Roman"/>
          <a:cs typeface="Times New Roman"/>
          <a:sym typeface="Times New Roman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1" i="0" u="none" strike="noStrike" cap="none" spc="0" baseline="0">
          <a:solidFill>
            <a:srgbClr val="FF0000"/>
          </a:solidFill>
          <a:uFillTx/>
          <a:latin typeface="Times New Roman"/>
          <a:ea typeface="Times New Roman"/>
          <a:cs typeface="Times New Roman"/>
          <a:sym typeface="Times New Roman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1" i="0" u="none" strike="noStrike" cap="none" spc="0" baseline="0">
          <a:solidFill>
            <a:srgbClr val="FF0000"/>
          </a:solidFill>
          <a:uFillTx/>
          <a:latin typeface="Times New Roman"/>
          <a:ea typeface="Times New Roman"/>
          <a:cs typeface="Times New Roman"/>
          <a:sym typeface="Times New Roman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1" i="0" u="none" strike="noStrike" cap="none" spc="0" baseline="0">
          <a:solidFill>
            <a:srgbClr val="FF0000"/>
          </a:solidFill>
          <a:uFillTx/>
          <a:latin typeface="Times New Roman"/>
          <a:ea typeface="Times New Roman"/>
          <a:cs typeface="Times New Roman"/>
          <a:sym typeface="Times New Roman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1" i="0" u="none" strike="noStrike" cap="none" spc="0" baseline="0">
          <a:solidFill>
            <a:srgbClr val="FF0000"/>
          </a:solidFill>
          <a:uFillTx/>
          <a:latin typeface="Times New Roman"/>
          <a:ea typeface="Times New Roman"/>
          <a:cs typeface="Times New Roman"/>
          <a:sym typeface="Times New Roman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1" i="0" u="none" strike="noStrike" cap="none" spc="0" baseline="0">
          <a:solidFill>
            <a:srgbClr val="FF0000"/>
          </a:solidFill>
          <a:uFillTx/>
          <a:latin typeface="Times New Roman"/>
          <a:ea typeface="Times New Roman"/>
          <a:cs typeface="Times New Roman"/>
          <a:sym typeface="Times New Roman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1" i="0" u="none" strike="noStrike" cap="none" spc="0" baseline="0">
          <a:solidFill>
            <a:srgbClr val="FF0000"/>
          </a:solidFill>
          <a:uFillTx/>
          <a:latin typeface="Times New Roman"/>
          <a:ea typeface="Times New Roman"/>
          <a:cs typeface="Times New Roman"/>
          <a:sym typeface="Times New Roman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1" i="0" u="none" strike="noStrike" cap="none" spc="0" baseline="0">
          <a:solidFill>
            <a:srgbClr val="FF0000"/>
          </a:solidFill>
          <a:uFillTx/>
          <a:latin typeface="Times New Roman"/>
          <a:ea typeface="Times New Roman"/>
          <a:cs typeface="Times New Roman"/>
          <a:sym typeface="Times New Roman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1" i="0" u="none" strike="noStrike" cap="none" spc="0" baseline="0">
          <a:solidFill>
            <a:srgbClr val="FF0000"/>
          </a:solidFill>
          <a:uFillTx/>
          <a:latin typeface="Times New Roman"/>
          <a:ea typeface="Times New Roman"/>
          <a:cs typeface="Times New Roman"/>
          <a:sym typeface="Times New Roman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object 2"/>
          <p:cNvSpPr txBox="1"/>
          <p:nvPr/>
        </p:nvSpPr>
        <p:spPr>
          <a:xfrm>
            <a:off x="7468645" y="4416623"/>
            <a:ext cx="4380232" cy="1177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indent="132079" algn="ctr">
              <a:spcBef>
                <a:spcPts val="500"/>
              </a:spcBef>
              <a:defRPr sz="16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Presented</a:t>
            </a:r>
            <a:r>
              <a:rPr spc="-60" dirty="0"/>
              <a:t> </a:t>
            </a:r>
            <a:r>
              <a:rPr spc="-20" dirty="0"/>
              <a:t>by</a:t>
            </a:r>
            <a:endParaRPr lang="en-GB" spc="-20" dirty="0"/>
          </a:p>
          <a:p>
            <a:pPr indent="132079" algn="ctr">
              <a:spcBef>
                <a:spcPts val="500"/>
              </a:spcBef>
              <a:defRPr sz="16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pc="-20" dirty="0">
                <a:solidFill>
                  <a:schemeClr val="tx1"/>
                </a:solidFill>
              </a:rPr>
              <a:t>K.L.V.S.KARTHIK(192424177)</a:t>
            </a:r>
          </a:p>
          <a:p>
            <a:pPr indent="132079" algn="ctr">
              <a:spcBef>
                <a:spcPts val="500"/>
              </a:spcBef>
              <a:defRPr sz="16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pc="-20" dirty="0">
                <a:solidFill>
                  <a:schemeClr val="tx1"/>
                </a:solidFill>
              </a:rPr>
              <a:t>R SAITEJA(192424352)</a:t>
            </a:r>
          </a:p>
          <a:p>
            <a:pPr indent="132079" algn="ctr">
              <a:spcBef>
                <a:spcPts val="500"/>
              </a:spcBef>
              <a:defRPr sz="16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pc="-20" dirty="0">
                <a:solidFill>
                  <a:schemeClr val="tx1"/>
                </a:solidFill>
              </a:rPr>
              <a:t>K.VENKATESH(192424326)</a:t>
            </a:r>
          </a:p>
        </p:txBody>
      </p:sp>
      <p:pic>
        <p:nvPicPr>
          <p:cNvPr id="89" name="object 3" descr="object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" y="190500"/>
            <a:ext cx="1101991" cy="1343025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object 4" descr="object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90500"/>
            <a:ext cx="1514475" cy="1343025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object 5"/>
          <p:cNvSpPr txBox="1"/>
          <p:nvPr/>
        </p:nvSpPr>
        <p:spPr>
          <a:xfrm>
            <a:off x="661540" y="4411095"/>
            <a:ext cx="3453766" cy="569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indent="12700" algn="ctr">
              <a:spcBef>
                <a:spcPts val="700"/>
              </a:spcBef>
              <a:defRPr sz="1600" b="1" spc="-8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Supervised by </a:t>
            </a:r>
          </a:p>
          <a:p>
            <a:pPr indent="12700" algn="ctr">
              <a:spcBef>
                <a:spcPts val="600"/>
              </a:spcBef>
              <a:defRPr sz="1600" spc="-36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Dr.</a:t>
            </a:r>
            <a:r>
              <a:rPr lang="en-GB" spc="-52" dirty="0"/>
              <a:t>G.A. SENTHIL</a:t>
            </a:r>
            <a:endParaRPr spc="-16" dirty="0"/>
          </a:p>
        </p:txBody>
      </p:sp>
      <p:sp>
        <p:nvSpPr>
          <p:cNvPr id="92" name="object 6"/>
          <p:cNvSpPr txBox="1"/>
          <p:nvPr/>
        </p:nvSpPr>
        <p:spPr>
          <a:xfrm>
            <a:off x="3122397" y="3264024"/>
            <a:ext cx="5947206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2400" b="1" spc="-2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pc="-55" dirty="0"/>
              <a:t>DSA0204</a:t>
            </a:r>
            <a:r>
              <a:rPr spc="-55" dirty="0"/>
              <a:t> </a:t>
            </a:r>
            <a:r>
              <a:rPr spc="0" dirty="0"/>
              <a:t>-</a:t>
            </a:r>
            <a:r>
              <a:rPr spc="-30" dirty="0"/>
              <a:t> </a:t>
            </a:r>
            <a:r>
              <a:rPr spc="-10" dirty="0"/>
              <a:t>Computer Vision </a:t>
            </a:r>
            <a:r>
              <a:rPr lang="en-GB" spc="-10" dirty="0"/>
              <a:t>With Open CV</a:t>
            </a:r>
            <a:endParaRPr spc="-10" dirty="0"/>
          </a:p>
        </p:txBody>
      </p:sp>
      <p:sp>
        <p:nvSpPr>
          <p:cNvPr id="93" name="object 7"/>
          <p:cNvSpPr txBox="1">
            <a:spLocks noGrp="1"/>
          </p:cNvSpPr>
          <p:nvPr>
            <p:ph type="title"/>
          </p:nvPr>
        </p:nvSpPr>
        <p:spPr>
          <a:xfrm>
            <a:off x="1973578" y="190500"/>
            <a:ext cx="8244841" cy="1697129"/>
          </a:xfrm>
          <a:prstGeom prst="rect">
            <a:avLst/>
          </a:prstGeom>
        </p:spPr>
        <p:txBody>
          <a:bodyPr/>
          <a:lstStyle>
            <a:lvl1pPr marL="1373503" marR="5080" indent="-1361438" algn="ctr">
              <a:lnSpc>
                <a:spcPct val="102400"/>
              </a:lnSpc>
              <a:defRPr sz="3000"/>
            </a:lvl1pPr>
          </a:lstStyle>
          <a:p>
            <a:r>
              <a:rPr dirty="0"/>
              <a:t> </a:t>
            </a:r>
          </a:p>
        </p:txBody>
      </p:sp>
      <p:sp>
        <p:nvSpPr>
          <p:cNvPr id="94" name="Autonomous Driving System: Vision-Based Road Sign Recognition and Obstacle Detection"/>
          <p:cNvSpPr txBox="1"/>
          <p:nvPr/>
        </p:nvSpPr>
        <p:spPr>
          <a:xfrm>
            <a:off x="784768" y="1706671"/>
            <a:ext cx="10622456" cy="10156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36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lang="en-GB" sz="3000" dirty="0"/>
              <a:t>Autonomous Driving System: Vision-Based Road Sign Recognition </a:t>
            </a:r>
          </a:p>
          <a:p>
            <a:r>
              <a:rPr lang="en-GB" sz="3000" dirty="0"/>
              <a:t>And Obstacle Detection Using YOLOv8 and OpenCV</a:t>
            </a:r>
            <a:endParaRPr sz="3000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object 2"/>
          <p:cNvSpPr txBox="1">
            <a:spLocks noGrp="1"/>
          </p:cNvSpPr>
          <p:nvPr>
            <p:ph type="title"/>
          </p:nvPr>
        </p:nvSpPr>
        <p:spPr>
          <a:xfrm>
            <a:off x="1884044" y="-55880"/>
            <a:ext cx="8244842" cy="1647826"/>
          </a:xfrm>
          <a:prstGeom prst="rect">
            <a:avLst/>
          </a:prstGeom>
        </p:spPr>
        <p:txBody>
          <a:bodyPr/>
          <a:lstStyle>
            <a:lvl1pPr indent="2139950">
              <a:spcBef>
                <a:spcPts val="100"/>
              </a:spcBef>
              <a:defRPr sz="4400" spc="-100"/>
            </a:lvl1pPr>
          </a:lstStyle>
          <a:p>
            <a:r>
              <a:t>Introduction</a:t>
            </a:r>
          </a:p>
        </p:txBody>
      </p:sp>
      <p:pic>
        <p:nvPicPr>
          <p:cNvPr id="97" name="object 3" descr="object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" y="190500"/>
            <a:ext cx="1101990" cy="1343025"/>
          </a:xfrm>
          <a:prstGeom prst="rect">
            <a:avLst/>
          </a:prstGeom>
          <a:ln w="12700">
            <a:miter lim="400000"/>
          </a:ln>
        </p:spPr>
      </p:pic>
      <p:pic>
        <p:nvPicPr>
          <p:cNvPr id="98" name="object 4" descr="object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90500"/>
            <a:ext cx="1514475" cy="1343025"/>
          </a:xfrm>
          <a:prstGeom prst="rect">
            <a:avLst/>
          </a:prstGeom>
          <a:ln w="12700">
            <a:miter lim="400000"/>
          </a:ln>
        </p:spPr>
      </p:pic>
      <p:sp>
        <p:nvSpPr>
          <p:cNvPr id="99" name="object 5"/>
          <p:cNvSpPr txBox="1"/>
          <p:nvPr/>
        </p:nvSpPr>
        <p:spPr>
          <a:xfrm>
            <a:off x="854075" y="1812098"/>
            <a:ext cx="6264275" cy="4182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98450" marR="5080" indent="-285750">
              <a:lnSpc>
                <a:spcPct val="152900"/>
              </a:lnSpc>
              <a:buSzPct val="100000"/>
              <a:buChar char="•"/>
              <a:tabLst>
                <a:tab pos="292100" algn="l"/>
                <a:tab pos="342900" algn="l"/>
                <a:tab pos="1663700" algn="l"/>
                <a:tab pos="2552700" algn="l"/>
                <a:tab pos="2997200" algn="l"/>
                <a:tab pos="3886200" algn="l"/>
                <a:tab pos="4356100" algn="l"/>
                <a:tab pos="5359400" algn="l"/>
                <a:tab pos="6057900" algn="l"/>
              </a:tabLst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	</a:t>
            </a:r>
            <a:r>
              <a:rPr spc="-9"/>
              <a:t>Autonomous</a:t>
            </a:r>
            <a:r>
              <a:t>	</a:t>
            </a:r>
            <a:r>
              <a:rPr spc="-9"/>
              <a:t>vehicles</a:t>
            </a:r>
            <a:r>
              <a:t>	</a:t>
            </a:r>
            <a:r>
              <a:rPr spc="-25"/>
              <a:t>use</a:t>
            </a:r>
            <a:r>
              <a:t>	</a:t>
            </a:r>
            <a:r>
              <a:rPr spc="-9"/>
              <a:t>cameras</a:t>
            </a:r>
            <a:r>
              <a:t>	</a:t>
            </a:r>
            <a:r>
              <a:rPr spc="-25"/>
              <a:t>and</a:t>
            </a:r>
            <a:r>
              <a:t>	</a:t>
            </a:r>
            <a:r>
              <a:rPr spc="-9"/>
              <a:t>computer</a:t>
            </a:r>
            <a:r>
              <a:t>	</a:t>
            </a:r>
            <a:r>
              <a:rPr spc="-9"/>
              <a:t>vision</a:t>
            </a:r>
            <a:r>
              <a:t>	</a:t>
            </a:r>
            <a:r>
              <a:rPr spc="-25"/>
              <a:t>to </a:t>
            </a:r>
            <a:r>
              <a:t>understand the</a:t>
            </a:r>
            <a:r>
              <a:rPr spc="-25"/>
              <a:t> </a:t>
            </a:r>
            <a:r>
              <a:rPr spc="-9"/>
              <a:t>road.</a:t>
            </a:r>
          </a:p>
          <a:p>
            <a:pPr marL="298450" marR="13970" indent="-285750">
              <a:lnSpc>
                <a:spcPct val="149500"/>
              </a:lnSpc>
              <a:buSzPct val="100000"/>
              <a:buChar char="•"/>
              <a:tabLst>
                <a:tab pos="292100" algn="l"/>
                <a:tab pos="342900" algn="l"/>
              </a:tabLst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	Road</a:t>
            </a:r>
            <a:r>
              <a:rPr spc="30"/>
              <a:t> </a:t>
            </a:r>
            <a:r>
              <a:t>sign</a:t>
            </a:r>
            <a:r>
              <a:rPr spc="79"/>
              <a:t> </a:t>
            </a:r>
            <a:r>
              <a:t>recognition</a:t>
            </a:r>
            <a:r>
              <a:rPr spc="104"/>
              <a:t> </a:t>
            </a:r>
            <a:r>
              <a:t>helps</a:t>
            </a:r>
            <a:r>
              <a:rPr spc="95"/>
              <a:t> </a:t>
            </a:r>
            <a:r>
              <a:t>the</a:t>
            </a:r>
            <a:r>
              <a:rPr spc="50"/>
              <a:t> </a:t>
            </a:r>
            <a:r>
              <a:t>vehicle</a:t>
            </a:r>
            <a:r>
              <a:rPr spc="55"/>
              <a:t> </a:t>
            </a:r>
            <a:r>
              <a:t>follow</a:t>
            </a:r>
            <a:r>
              <a:rPr spc="100"/>
              <a:t> </a:t>
            </a:r>
            <a:r>
              <a:t>traffic</a:t>
            </a:r>
            <a:r>
              <a:rPr spc="50"/>
              <a:t> </a:t>
            </a:r>
            <a:r>
              <a:t>rules</a:t>
            </a:r>
            <a:r>
              <a:rPr spc="104"/>
              <a:t> </a:t>
            </a:r>
            <a:r>
              <a:rPr spc="-19"/>
              <a:t>like </a:t>
            </a:r>
            <a:r>
              <a:t>stop</a:t>
            </a:r>
            <a:r>
              <a:rPr spc="9"/>
              <a:t> </a:t>
            </a:r>
            <a:r>
              <a:t>and</a:t>
            </a:r>
            <a:r>
              <a:rPr spc="-9"/>
              <a:t> </a:t>
            </a:r>
            <a:r>
              <a:t>speed</a:t>
            </a:r>
            <a:r>
              <a:rPr spc="-9"/>
              <a:t> limits.</a:t>
            </a:r>
          </a:p>
          <a:p>
            <a:pPr marL="298450" marR="7620" indent="-285750">
              <a:lnSpc>
                <a:spcPct val="149500"/>
              </a:lnSpc>
              <a:buSzPct val="100000"/>
              <a:buChar char="•"/>
              <a:tabLst>
                <a:tab pos="292100" algn="l"/>
                <a:tab pos="342900" algn="l"/>
                <a:tab pos="1282700" algn="l"/>
                <a:tab pos="2260600" algn="l"/>
                <a:tab pos="2882900" algn="l"/>
                <a:tab pos="3733800" algn="l"/>
                <a:tab pos="4965700" algn="l"/>
                <a:tab pos="5905500" algn="l"/>
              </a:tabLst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	</a:t>
            </a:r>
            <a:r>
              <a:rPr spc="-9"/>
              <a:t>Obstacle</a:t>
            </a:r>
            <a:r>
              <a:t>	</a:t>
            </a:r>
            <a:r>
              <a:rPr spc="-9"/>
              <a:t>detection</a:t>
            </a:r>
            <a:r>
              <a:t>	</a:t>
            </a:r>
            <a:r>
              <a:rPr spc="-19"/>
              <a:t>helps</a:t>
            </a:r>
            <a:r>
              <a:t>	</a:t>
            </a:r>
            <a:r>
              <a:rPr spc="-9"/>
              <a:t>identify</a:t>
            </a:r>
            <a:r>
              <a:t>	</a:t>
            </a:r>
            <a:r>
              <a:rPr spc="-9"/>
              <a:t>pedestrians,</a:t>
            </a:r>
            <a:r>
              <a:t>	</a:t>
            </a:r>
            <a:r>
              <a:rPr spc="-9"/>
              <a:t>vehicles,</a:t>
            </a:r>
            <a:r>
              <a:t>	</a:t>
            </a:r>
            <a:r>
              <a:rPr spc="-25"/>
              <a:t>and </a:t>
            </a:r>
            <a:r>
              <a:t>other</a:t>
            </a:r>
            <a:r>
              <a:rPr spc="-4"/>
              <a:t> </a:t>
            </a:r>
            <a:r>
              <a:rPr spc="-9"/>
              <a:t>objects.</a:t>
            </a:r>
          </a:p>
          <a:p>
            <a:pPr marL="298450" marR="6985" indent="-285750">
              <a:lnSpc>
                <a:spcPct val="149500"/>
              </a:lnSpc>
              <a:buSzPct val="100000"/>
              <a:buChar char="•"/>
              <a:tabLst>
                <a:tab pos="292100" algn="l"/>
                <a:tab pos="342900" algn="l"/>
              </a:tabLst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	Lane</a:t>
            </a:r>
            <a:r>
              <a:rPr spc="195"/>
              <a:t> </a:t>
            </a:r>
            <a:r>
              <a:t>detection</a:t>
            </a:r>
            <a:r>
              <a:rPr spc="195"/>
              <a:t> </a:t>
            </a:r>
            <a:r>
              <a:t>helps</a:t>
            </a:r>
            <a:r>
              <a:rPr spc="215"/>
              <a:t> </a:t>
            </a:r>
            <a:r>
              <a:t>the</a:t>
            </a:r>
            <a:r>
              <a:rPr spc="164"/>
              <a:t> </a:t>
            </a:r>
            <a:r>
              <a:t>vehicle</a:t>
            </a:r>
            <a:r>
              <a:rPr spc="170"/>
              <a:t> </a:t>
            </a:r>
            <a:r>
              <a:t>stay</a:t>
            </a:r>
            <a:r>
              <a:rPr spc="170"/>
              <a:t> </a:t>
            </a:r>
            <a:r>
              <a:t>in</a:t>
            </a:r>
            <a:r>
              <a:rPr spc="159"/>
              <a:t> </a:t>
            </a:r>
            <a:r>
              <a:t>the</a:t>
            </a:r>
            <a:r>
              <a:rPr spc="164"/>
              <a:t> </a:t>
            </a:r>
            <a:r>
              <a:t>correct</a:t>
            </a:r>
            <a:r>
              <a:rPr spc="185"/>
              <a:t> </a:t>
            </a:r>
            <a:r>
              <a:t>lane</a:t>
            </a:r>
            <a:r>
              <a:rPr spc="215"/>
              <a:t> </a:t>
            </a:r>
            <a:r>
              <a:rPr spc="-9"/>
              <a:t>while driving.</a:t>
            </a:r>
          </a:p>
          <a:p>
            <a:pPr marL="298450" marR="11429" indent="-285750">
              <a:lnSpc>
                <a:spcPct val="149500"/>
              </a:lnSpc>
              <a:buSzPct val="100000"/>
              <a:buChar char="•"/>
              <a:tabLst>
                <a:tab pos="292100" algn="l"/>
                <a:tab pos="342900" algn="l"/>
              </a:tabLst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	Advanced</a:t>
            </a:r>
            <a:r>
              <a:rPr spc="305"/>
              <a:t> </a:t>
            </a:r>
            <a:r>
              <a:t>AI</a:t>
            </a:r>
            <a:r>
              <a:rPr spc="315"/>
              <a:t> </a:t>
            </a:r>
            <a:r>
              <a:t>models</a:t>
            </a:r>
            <a:r>
              <a:rPr spc="290"/>
              <a:t> </a:t>
            </a:r>
            <a:r>
              <a:t>like</a:t>
            </a:r>
            <a:r>
              <a:rPr spc="310"/>
              <a:t> </a:t>
            </a:r>
            <a:r>
              <a:t>YOLO</a:t>
            </a:r>
            <a:r>
              <a:rPr spc="315"/>
              <a:t> </a:t>
            </a:r>
            <a:r>
              <a:t>and</a:t>
            </a:r>
            <a:r>
              <a:rPr spc="260"/>
              <a:t> </a:t>
            </a:r>
            <a:r>
              <a:t>CNN</a:t>
            </a:r>
            <a:r>
              <a:rPr spc="310"/>
              <a:t> </a:t>
            </a:r>
            <a:r>
              <a:t>make</a:t>
            </a:r>
            <a:r>
              <a:rPr spc="315"/>
              <a:t> </a:t>
            </a:r>
            <a:r>
              <a:t>the</a:t>
            </a:r>
            <a:r>
              <a:rPr spc="265"/>
              <a:t> </a:t>
            </a:r>
            <a:r>
              <a:rPr spc="-9"/>
              <a:t>system </a:t>
            </a:r>
            <a:r>
              <a:t>fast</a:t>
            </a:r>
            <a:r>
              <a:rPr spc="4"/>
              <a:t> </a:t>
            </a:r>
            <a:r>
              <a:t>and</a:t>
            </a:r>
            <a:r>
              <a:rPr spc="-9"/>
              <a:t> accurate.</a:t>
            </a:r>
          </a:p>
        </p:txBody>
      </p:sp>
      <p:pic>
        <p:nvPicPr>
          <p:cNvPr id="100" name="object 6" descr="object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1704975"/>
            <a:ext cx="4438650" cy="48291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object 2" descr="object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" y="190500"/>
            <a:ext cx="1101990" cy="1343025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05" name="object 3"/>
          <p:cNvGrpSpPr/>
          <p:nvPr/>
        </p:nvGrpSpPr>
        <p:grpSpPr>
          <a:xfrm>
            <a:off x="6096000" y="190500"/>
            <a:ext cx="5934076" cy="6486526"/>
            <a:chOff x="0" y="0"/>
            <a:chExt cx="5934075" cy="6486524"/>
          </a:xfrm>
        </p:grpSpPr>
        <p:pic>
          <p:nvPicPr>
            <p:cNvPr id="103" name="object 4" descr="object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8200" y="-1"/>
              <a:ext cx="1285876" cy="1181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4" name="object 5" descr="object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1352548"/>
              <a:ext cx="5934075" cy="5133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06" name="object 6"/>
          <p:cNvSpPr txBox="1"/>
          <p:nvPr/>
        </p:nvSpPr>
        <p:spPr>
          <a:xfrm>
            <a:off x="436561" y="1572831"/>
            <a:ext cx="5583240" cy="5016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98450" marR="5714" indent="-285750">
              <a:lnSpc>
                <a:spcPct val="153000"/>
              </a:lnSpc>
              <a:buSzPct val="100000"/>
              <a:buFont typeface="Arial"/>
              <a:buChar char="•"/>
              <a:tabLst>
                <a:tab pos="292100" algn="l"/>
                <a:tab pos="342900" algn="l"/>
                <a:tab pos="1689100" algn="l"/>
                <a:tab pos="2616200" algn="l"/>
                <a:tab pos="3225800" algn="l"/>
                <a:tab pos="4406900" algn="l"/>
              </a:tabLst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	</a:t>
            </a:r>
            <a:r>
              <a:rPr spc="-9">
                <a:latin typeface="Times New Roman"/>
                <a:ea typeface="Times New Roman"/>
                <a:cs typeface="Times New Roman"/>
                <a:sym typeface="Times New Roman"/>
              </a:rPr>
              <a:t>Autonomous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spc="-9">
                <a:latin typeface="Times New Roman"/>
                <a:ea typeface="Times New Roman"/>
                <a:cs typeface="Times New Roman"/>
                <a:sym typeface="Times New Roman"/>
              </a:rPr>
              <a:t>vehicles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spc="-19">
                <a:latin typeface="Times New Roman"/>
                <a:ea typeface="Times New Roman"/>
                <a:cs typeface="Times New Roman"/>
                <a:sym typeface="Times New Roman"/>
              </a:rPr>
              <a:t>must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spc="-9">
                <a:latin typeface="Times New Roman"/>
                <a:ea typeface="Times New Roman"/>
                <a:cs typeface="Times New Roman"/>
                <a:sym typeface="Times New Roman"/>
              </a:rPr>
              <a:t>understand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spc="-19">
                <a:latin typeface="Times New Roman"/>
                <a:ea typeface="Times New Roman"/>
                <a:cs typeface="Times New Roman"/>
                <a:sym typeface="Times New Roman"/>
              </a:rPr>
              <a:t>road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signs,</a:t>
            </a:r>
            <a:r>
              <a:rPr spc="-4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lanes,</a:t>
            </a:r>
            <a:r>
              <a:rPr spc="2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spc="-3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obstacles</a:t>
            </a:r>
            <a:r>
              <a:rPr spc="-19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to</a:t>
            </a:r>
            <a:r>
              <a:rPr spc="-3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drive</a:t>
            </a:r>
            <a:r>
              <a:rPr spc="-3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spc="-9">
                <a:latin typeface="Times New Roman"/>
                <a:ea typeface="Times New Roman"/>
                <a:cs typeface="Times New Roman"/>
                <a:sym typeface="Times New Roman"/>
              </a:rPr>
              <a:t>safely.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8450" marR="5080" indent="-285750">
              <a:lnSpc>
                <a:spcPts val="3200"/>
              </a:lnSpc>
              <a:spcBef>
                <a:spcPts val="200"/>
              </a:spcBef>
              <a:buSzPct val="100000"/>
              <a:buChar char="•"/>
              <a:tabLst>
                <a:tab pos="292100" algn="l"/>
                <a:tab pos="342900" algn="l"/>
              </a:tabLst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	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Current</a:t>
            </a:r>
            <a:r>
              <a:rPr spc="13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systems</a:t>
            </a:r>
            <a:r>
              <a:rPr spc="159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sometimes</a:t>
            </a:r>
            <a:r>
              <a:rPr spc="19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fail</a:t>
            </a:r>
            <a:r>
              <a:rPr spc="19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in</a:t>
            </a:r>
            <a:r>
              <a:rPr spc="15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bad</a:t>
            </a:r>
            <a:r>
              <a:rPr spc="15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spc="-9">
                <a:latin typeface="Times New Roman"/>
                <a:ea typeface="Times New Roman"/>
                <a:cs typeface="Times New Roman"/>
                <a:sym typeface="Times New Roman"/>
              </a:rPr>
              <a:t>lighting,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rain, fog,</a:t>
            </a:r>
            <a:r>
              <a:rPr spc="-19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or</a:t>
            </a:r>
            <a:r>
              <a:rPr spc="-19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heavy</a:t>
            </a:r>
            <a:r>
              <a:rPr spc="4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traffic</a:t>
            </a:r>
            <a:r>
              <a:rPr spc="-39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spc="-9">
                <a:latin typeface="Times New Roman"/>
                <a:ea typeface="Times New Roman"/>
                <a:cs typeface="Times New Roman"/>
                <a:sym typeface="Times New Roman"/>
              </a:rPr>
              <a:t>conditions.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8450" marR="6985" indent="-285750">
              <a:lnSpc>
                <a:spcPts val="3200"/>
              </a:lnSpc>
              <a:buSzPct val="100000"/>
              <a:buChar char="•"/>
              <a:tabLst>
                <a:tab pos="292100" algn="l"/>
                <a:tab pos="342900" algn="l"/>
                <a:tab pos="1155700" algn="l"/>
                <a:tab pos="2184400" algn="l"/>
                <a:tab pos="2552700" algn="l"/>
                <a:tab pos="3149600" algn="l"/>
                <a:tab pos="3797300" algn="l"/>
                <a:tab pos="4305300" algn="l"/>
              </a:tabLst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	</a:t>
            </a:r>
            <a:r>
              <a:rPr spc="-9">
                <a:latin typeface="Times New Roman"/>
                <a:ea typeface="Times New Roman"/>
                <a:cs typeface="Times New Roman"/>
                <a:sym typeface="Times New Roman"/>
              </a:rPr>
              <a:t>Wrong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spc="-9">
                <a:latin typeface="Times New Roman"/>
                <a:ea typeface="Times New Roman"/>
                <a:cs typeface="Times New Roman"/>
                <a:sym typeface="Times New Roman"/>
              </a:rPr>
              <a:t>detection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spc="-25">
                <a:latin typeface="Times New Roman"/>
                <a:ea typeface="Times New Roman"/>
                <a:cs typeface="Times New Roman"/>
                <a:sym typeface="Times New Roman"/>
              </a:rPr>
              <a:t>of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spc="-19">
                <a:latin typeface="Times New Roman"/>
                <a:ea typeface="Times New Roman"/>
                <a:cs typeface="Times New Roman"/>
                <a:sym typeface="Times New Roman"/>
              </a:rPr>
              <a:t>road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spc="-9">
                <a:latin typeface="Times New Roman"/>
                <a:ea typeface="Times New Roman"/>
                <a:cs typeface="Times New Roman"/>
                <a:sym typeface="Times New Roman"/>
              </a:rPr>
              <a:t>signs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spc="-25">
                <a:latin typeface="Times New Roman"/>
                <a:ea typeface="Times New Roman"/>
                <a:cs typeface="Times New Roman"/>
                <a:sym typeface="Times New Roman"/>
              </a:rPr>
              <a:t>can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spc="-9">
                <a:latin typeface="Times New Roman"/>
                <a:ea typeface="Times New Roman"/>
                <a:cs typeface="Times New Roman"/>
                <a:sym typeface="Times New Roman"/>
              </a:rPr>
              <a:t>cause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incorrect</a:t>
            </a:r>
            <a:r>
              <a:rPr spc="-39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speed</a:t>
            </a:r>
            <a:r>
              <a:rPr spc="-3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control</a:t>
            </a:r>
            <a:r>
              <a:rPr spc="19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or</a:t>
            </a:r>
            <a:r>
              <a:rPr spc="-4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unsafe</a:t>
            </a:r>
            <a:r>
              <a:rPr spc="4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spc="-9">
                <a:latin typeface="Times New Roman"/>
                <a:ea typeface="Times New Roman"/>
                <a:cs typeface="Times New Roman"/>
                <a:sym typeface="Times New Roman"/>
              </a:rPr>
              <a:t>turns.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8450" marR="9525" indent="-285750">
              <a:lnSpc>
                <a:spcPts val="3200"/>
              </a:lnSpc>
              <a:buSzPct val="100000"/>
              <a:buChar char="•"/>
              <a:tabLst>
                <a:tab pos="292100" algn="l"/>
                <a:tab pos="342900" algn="l"/>
                <a:tab pos="1193800" algn="l"/>
                <a:tab pos="1574800" algn="l"/>
                <a:tab pos="2324100" algn="l"/>
                <a:tab pos="3619500" algn="l"/>
                <a:tab pos="4622800" algn="l"/>
              </a:tabLst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	</a:t>
            </a:r>
            <a:r>
              <a:rPr spc="-9">
                <a:latin typeface="Times New Roman"/>
                <a:ea typeface="Times New Roman"/>
                <a:cs typeface="Times New Roman"/>
                <a:sym typeface="Times New Roman"/>
              </a:rPr>
              <a:t>Failure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spc="-25">
                <a:latin typeface="Times New Roman"/>
                <a:ea typeface="Times New Roman"/>
                <a:cs typeface="Times New Roman"/>
                <a:sym typeface="Times New Roman"/>
              </a:rPr>
              <a:t>to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spc="-9">
                <a:latin typeface="Times New Roman"/>
                <a:ea typeface="Times New Roman"/>
                <a:cs typeface="Times New Roman"/>
                <a:sym typeface="Times New Roman"/>
              </a:rPr>
              <a:t>detect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spc="-9">
                <a:latin typeface="Times New Roman"/>
                <a:ea typeface="Times New Roman"/>
                <a:cs typeface="Times New Roman"/>
                <a:sym typeface="Times New Roman"/>
              </a:rPr>
              <a:t>pedestrians,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spc="-9">
                <a:latin typeface="Times New Roman"/>
                <a:ea typeface="Times New Roman"/>
                <a:cs typeface="Times New Roman"/>
                <a:sym typeface="Times New Roman"/>
              </a:rPr>
              <a:t>vehicles,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spc="-25">
                <a:latin typeface="Times New Roman"/>
                <a:ea typeface="Times New Roman"/>
                <a:cs typeface="Times New Roman"/>
                <a:sym typeface="Times New Roman"/>
              </a:rPr>
              <a:t>or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barriers</a:t>
            </a:r>
            <a:r>
              <a:rPr spc="-19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may</a:t>
            </a:r>
            <a:r>
              <a:rPr spc="1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lead</a:t>
            </a:r>
            <a:r>
              <a:rPr spc="-9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to</a:t>
            </a:r>
            <a:r>
              <a:rPr spc="-3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spc="-9">
                <a:latin typeface="Times New Roman"/>
                <a:ea typeface="Times New Roman"/>
                <a:cs typeface="Times New Roman"/>
                <a:sym typeface="Times New Roman"/>
              </a:rPr>
              <a:t>accidents.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1154" indent="-338454">
              <a:spcBef>
                <a:spcPts val="700"/>
              </a:spcBef>
              <a:buSzPct val="100000"/>
              <a:buFont typeface="Arial"/>
              <a:buChar char="•"/>
              <a:tabLst>
                <a:tab pos="342900" algn="l"/>
                <a:tab pos="1473200" algn="l"/>
                <a:tab pos="1917700" algn="l"/>
                <a:tab pos="2527300" algn="l"/>
                <a:tab pos="2794000" algn="l"/>
                <a:tab pos="3657600" algn="l"/>
              </a:tabLst>
              <a:defRPr sz="2000" spc="-9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Therefore,</a:t>
            </a:r>
            <a:r>
              <a:rPr spc="0"/>
              <a:t>	</a:t>
            </a:r>
            <a:r>
              <a:rPr spc="-25"/>
              <a:t>we</a:t>
            </a:r>
            <a:r>
              <a:rPr spc="0"/>
              <a:t>	</a:t>
            </a:r>
            <a:r>
              <a:rPr spc="-19"/>
              <a:t>need</a:t>
            </a:r>
            <a:r>
              <a:rPr spc="0"/>
              <a:t>	</a:t>
            </a:r>
            <a:r>
              <a:rPr spc="-50"/>
              <a:t>a</a:t>
            </a:r>
            <a:r>
              <a:rPr spc="0"/>
              <a:t>	</a:t>
            </a:r>
            <a:r>
              <a:t>reliable</a:t>
            </a:r>
            <a:r>
              <a:rPr spc="0"/>
              <a:t>	</a:t>
            </a:r>
            <a:r>
              <a:t>vision-based</a:t>
            </a:r>
          </a:p>
          <a:p>
            <a:pPr marR="5714" indent="298450">
              <a:lnSpc>
                <a:spcPct val="149500"/>
              </a:lnSpc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system</a:t>
            </a:r>
            <a:r>
              <a:rPr spc="95"/>
              <a:t> </a:t>
            </a:r>
            <a:r>
              <a:t>that</a:t>
            </a:r>
            <a:r>
              <a:rPr spc="140"/>
              <a:t> </a:t>
            </a:r>
            <a:r>
              <a:t>can</a:t>
            </a:r>
            <a:r>
              <a:rPr spc="135"/>
              <a:t> </a:t>
            </a:r>
            <a:r>
              <a:t>detect</a:t>
            </a:r>
            <a:r>
              <a:rPr spc="85"/>
              <a:t> </a:t>
            </a:r>
            <a:r>
              <a:t>road</a:t>
            </a:r>
            <a:r>
              <a:rPr spc="85"/>
              <a:t> </a:t>
            </a:r>
            <a:r>
              <a:t>signs,</a:t>
            </a:r>
            <a:r>
              <a:rPr spc="140"/>
              <a:t> </a:t>
            </a:r>
            <a:r>
              <a:t>obstacles,</a:t>
            </a:r>
            <a:r>
              <a:rPr spc="130"/>
              <a:t> </a:t>
            </a:r>
            <a:r>
              <a:rPr spc="-25"/>
              <a:t>and </a:t>
            </a:r>
            <a:r>
              <a:t>lanes</a:t>
            </a:r>
            <a:r>
              <a:rPr spc="55"/>
              <a:t> </a:t>
            </a:r>
            <a:r>
              <a:t>in</a:t>
            </a:r>
            <a:r>
              <a:rPr spc="39"/>
              <a:t> </a:t>
            </a:r>
            <a:r>
              <a:t>real</a:t>
            </a:r>
            <a:r>
              <a:rPr spc="90"/>
              <a:t> </a:t>
            </a:r>
            <a:r>
              <a:t>time</a:t>
            </a:r>
            <a:r>
              <a:rPr spc="60"/>
              <a:t> </a:t>
            </a:r>
            <a:r>
              <a:t>and</a:t>
            </a:r>
            <a:r>
              <a:rPr spc="39"/>
              <a:t> </a:t>
            </a:r>
            <a:r>
              <a:t>help</a:t>
            </a:r>
            <a:r>
              <a:rPr spc="90"/>
              <a:t> </a:t>
            </a:r>
            <a:r>
              <a:t>the</a:t>
            </a:r>
            <a:r>
              <a:rPr spc="39"/>
              <a:t> </a:t>
            </a:r>
            <a:r>
              <a:t>vehicle</a:t>
            </a:r>
            <a:r>
              <a:rPr spc="45"/>
              <a:t> </a:t>
            </a:r>
            <a:r>
              <a:t>make</a:t>
            </a:r>
            <a:r>
              <a:rPr spc="95"/>
              <a:t> </a:t>
            </a:r>
            <a:r>
              <a:rPr spc="-19"/>
              <a:t>safe</a:t>
            </a:r>
          </a:p>
          <a:p>
            <a:pPr indent="298450">
              <a:spcBef>
                <a:spcPts val="1100"/>
              </a:spcBef>
              <a:defRPr sz="2000" spc="-9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decisions.</a:t>
            </a:r>
          </a:p>
        </p:txBody>
      </p:sp>
      <p:sp>
        <p:nvSpPr>
          <p:cNvPr id="107" name="object 7"/>
          <p:cNvSpPr txBox="1">
            <a:spLocks noGrp="1"/>
          </p:cNvSpPr>
          <p:nvPr>
            <p:ph type="title"/>
          </p:nvPr>
        </p:nvSpPr>
        <p:spPr>
          <a:xfrm>
            <a:off x="2795086" y="464939"/>
            <a:ext cx="6617966" cy="632225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sz="4000"/>
            </a:pPr>
            <a:r>
              <a:t>PROBLEM</a:t>
            </a:r>
            <a:r>
              <a:rPr spc="100"/>
              <a:t> </a:t>
            </a:r>
            <a:r>
              <a:rPr spc="-100"/>
              <a:t>STATEMENT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object 2" descr="object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" y="85725"/>
            <a:ext cx="935303" cy="1028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0" name="object 3" descr="objec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800" y="285750"/>
            <a:ext cx="1162050" cy="962025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object 4"/>
          <p:cNvSpPr txBox="1">
            <a:spLocks noGrp="1"/>
          </p:cNvSpPr>
          <p:nvPr>
            <p:ph type="title"/>
          </p:nvPr>
        </p:nvSpPr>
        <p:spPr>
          <a:xfrm>
            <a:off x="3271492" y="381000"/>
            <a:ext cx="5346067" cy="57066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sz="3600"/>
            </a:pPr>
            <a:r>
              <a:t>LITERATURE</a:t>
            </a:r>
            <a:r>
              <a:rPr spc="-100"/>
              <a:t> REVIEW</a:t>
            </a:r>
          </a:p>
        </p:txBody>
      </p:sp>
      <p:graphicFrame>
        <p:nvGraphicFramePr>
          <p:cNvPr id="112" name="object 5"/>
          <p:cNvGraphicFramePr/>
          <p:nvPr/>
        </p:nvGraphicFramePr>
        <p:xfrm>
          <a:off x="1321052" y="1478280"/>
          <a:ext cx="9547859" cy="455295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386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6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6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69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6895">
                <a:tc>
                  <a:txBody>
                    <a:bodyPr/>
                    <a:lstStyle/>
                    <a:p>
                      <a:pPr indent="556259" algn="l">
                        <a:spcBef>
                          <a:spcPts val="900"/>
                        </a:spcBef>
                        <a:defRPr b="1">
                          <a:sym typeface="Calibri"/>
                        </a:defRPr>
                      </a:pPr>
                      <a:r>
                        <a:t>Author</a:t>
                      </a:r>
                      <a:r>
                        <a:rPr spc="-45"/>
                        <a:t> </a:t>
                      </a:r>
                      <a:r>
                        <a:t>/</a:t>
                      </a:r>
                      <a:r>
                        <a:rPr spc="-20"/>
                        <a:t> Year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900"/>
                        </a:spcBef>
                      </a:pPr>
                      <a:r>
                        <a:rPr b="1" spc="-10">
                          <a:sym typeface="Calibri"/>
                        </a:rPr>
                        <a:t>Method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900"/>
                        </a:spcBef>
                      </a:pPr>
                      <a:r>
                        <a:rPr b="1" spc="-10">
                          <a:sym typeface="Calibri"/>
                        </a:rPr>
                        <a:t>Focus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900"/>
                        </a:spcBef>
                      </a:pPr>
                      <a:r>
                        <a:rPr b="1" spc="-10">
                          <a:sym typeface="Calibri"/>
                        </a:rPr>
                        <a:t>Result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895">
                <a:tc>
                  <a:txBody>
                    <a:bodyPr/>
                    <a:lstStyle/>
                    <a:p>
                      <a:pPr indent="92075" algn="l">
                        <a:spcBef>
                          <a:spcPts val="900"/>
                        </a:spcBef>
                        <a:defRPr>
                          <a:sym typeface="Calibri"/>
                        </a:defRPr>
                      </a:pPr>
                      <a:r>
                        <a:t>Smith</a:t>
                      </a:r>
                      <a:r>
                        <a:rPr spc="-20"/>
                        <a:t> </a:t>
                      </a:r>
                      <a:r>
                        <a:t>et</a:t>
                      </a:r>
                      <a:r>
                        <a:rPr spc="-34"/>
                        <a:t> </a:t>
                      </a:r>
                      <a:r>
                        <a:t>al.,</a:t>
                      </a:r>
                      <a:r>
                        <a:rPr spc="40"/>
                        <a:t> </a:t>
                      </a:r>
                      <a:r>
                        <a:rPr spc="-20"/>
                        <a:t>2025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</a:pPr>
                      <a:r>
                        <a:rPr spc="-25">
                          <a:sym typeface="Calibri"/>
                        </a:rPr>
                        <a:t>CNN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95885" algn="l">
                        <a:spcBef>
                          <a:spcPts val="900"/>
                        </a:spcBef>
                        <a:defRPr>
                          <a:sym typeface="Calibri"/>
                        </a:defRPr>
                      </a:pPr>
                      <a:r>
                        <a:t>Road</a:t>
                      </a:r>
                      <a:r>
                        <a:rPr spc="-55"/>
                        <a:t> </a:t>
                      </a:r>
                      <a:r>
                        <a:t>sign</a:t>
                      </a:r>
                      <a:r>
                        <a:rPr spc="-50"/>
                        <a:t> </a:t>
                      </a:r>
                      <a:r>
                        <a:rPr spc="-10"/>
                        <a:t>recognition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97789" algn="l">
                        <a:spcBef>
                          <a:spcPts val="900"/>
                        </a:spcBef>
                        <a:defRPr>
                          <a:sym typeface="Calibri"/>
                        </a:defRPr>
                      </a:pPr>
                      <a:r>
                        <a:t>Good</a:t>
                      </a:r>
                      <a:r>
                        <a:rPr spc="-10"/>
                        <a:t> accuracy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6895">
                <a:tc>
                  <a:txBody>
                    <a:bodyPr/>
                    <a:lstStyle/>
                    <a:p>
                      <a:pPr indent="92075" algn="l">
                        <a:spcBef>
                          <a:spcPts val="900"/>
                        </a:spcBef>
                        <a:defRPr>
                          <a:sym typeface="Calibri"/>
                        </a:defRPr>
                      </a:pPr>
                      <a:r>
                        <a:t>Kumar</a:t>
                      </a:r>
                      <a:r>
                        <a:rPr spc="-25"/>
                        <a:t> </a:t>
                      </a:r>
                      <a:r>
                        <a:t>et</a:t>
                      </a:r>
                      <a:r>
                        <a:rPr spc="5"/>
                        <a:t> </a:t>
                      </a:r>
                      <a:r>
                        <a:t>al.,</a:t>
                      </a:r>
                      <a:r>
                        <a:rPr spc="-65"/>
                        <a:t> </a:t>
                      </a:r>
                      <a:r>
                        <a:rPr spc="-20"/>
                        <a:t>2025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</a:pPr>
                      <a:r>
                        <a:rPr spc="-10">
                          <a:sym typeface="Calibri"/>
                        </a:rPr>
                        <a:t>YOLOv3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95885" algn="l">
                        <a:spcBef>
                          <a:spcPts val="900"/>
                        </a:spcBef>
                        <a:defRPr>
                          <a:sym typeface="Calibri"/>
                        </a:defRPr>
                      </a:pPr>
                      <a:r>
                        <a:t>Obstacle</a:t>
                      </a:r>
                      <a:r>
                        <a:rPr spc="-95"/>
                        <a:t> </a:t>
                      </a:r>
                      <a:r>
                        <a:rPr spc="-10"/>
                        <a:t>detection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97789" algn="l">
                        <a:spcBef>
                          <a:spcPts val="900"/>
                        </a:spcBef>
                        <a:defRPr>
                          <a:sym typeface="Calibri"/>
                        </a:defRPr>
                      </a:pPr>
                      <a:r>
                        <a:t>Reliable</a:t>
                      </a:r>
                      <a:r>
                        <a:rPr spc="-45"/>
                        <a:t> </a:t>
                      </a:r>
                      <a:r>
                        <a:rPr spc="-10"/>
                        <a:t>detection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755"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  <a:def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  <a:p>
                      <a:pPr indent="92075" algn="l">
                        <a:defRPr>
                          <a:sym typeface="Calibri"/>
                        </a:defRPr>
                      </a:pPr>
                      <a:r>
                        <a:t>Lee</a:t>
                      </a:r>
                      <a:r>
                        <a:rPr spc="25"/>
                        <a:t> </a:t>
                      </a:r>
                      <a:r>
                        <a:t>et</a:t>
                      </a:r>
                      <a:r>
                        <a:rPr spc="-45"/>
                        <a:t> </a:t>
                      </a:r>
                      <a:r>
                        <a:t>al.,</a:t>
                      </a:r>
                      <a:r>
                        <a:rPr spc="15"/>
                        <a:t> </a:t>
                      </a:r>
                      <a:r>
                        <a:rPr spc="-20"/>
                        <a:t>2024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  <a:def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  <a:p>
                      <a:pPr indent="93980" algn="l">
                        <a:defRPr spc="-10">
                          <a:sym typeface="Calibri"/>
                        </a:defRPr>
                      </a:pPr>
                      <a:r>
                        <a:t>MobileNet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R="1096010" indent="95885" algn="l">
                        <a:lnSpc>
                          <a:spcPct val="100800"/>
                        </a:lnSpc>
                        <a:spcBef>
                          <a:spcPts val="1400"/>
                        </a:spcBef>
                        <a:defRPr spc="-20">
                          <a:sym typeface="Calibri"/>
                        </a:defRPr>
                      </a:pPr>
                      <a:r>
                        <a:t>Traffic</a:t>
                      </a:r>
                      <a:r>
                        <a:rPr spc="-69"/>
                        <a:t> </a:t>
                      </a:r>
                      <a:r>
                        <a:t>sign </a:t>
                      </a:r>
                      <a:r>
                        <a:rPr spc="-10"/>
                        <a:t>classification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  <a:def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  <a:p>
                      <a:pPr indent="97789" algn="l">
                        <a:defRPr spc="-10">
                          <a:sym typeface="Calibri"/>
                        </a:defRPr>
                      </a:pPr>
                      <a:r>
                        <a:t>Fast</a:t>
                      </a:r>
                      <a:r>
                        <a:rPr spc="-85"/>
                        <a:t> </a:t>
                      </a:r>
                      <a:r>
                        <a:t>processing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0755"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  <a:def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  <a:p>
                      <a:pPr indent="92075" algn="l">
                        <a:defRPr>
                          <a:sym typeface="Calibri"/>
                        </a:defRPr>
                      </a:pPr>
                      <a:r>
                        <a:t>Ahmed</a:t>
                      </a:r>
                      <a:r>
                        <a:rPr spc="-15"/>
                        <a:t> </a:t>
                      </a:r>
                      <a:r>
                        <a:t>et</a:t>
                      </a:r>
                      <a:r>
                        <a:rPr spc="-45"/>
                        <a:t> </a:t>
                      </a:r>
                      <a:r>
                        <a:t>al.,</a:t>
                      </a:r>
                      <a:r>
                        <a:rPr spc="25"/>
                        <a:t> </a:t>
                      </a:r>
                      <a:r>
                        <a:rPr spc="-20"/>
                        <a:t>2025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  <a:def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  <a:p>
                      <a:pPr indent="93980" algn="l">
                        <a:defRPr>
                          <a:sym typeface="Calibri"/>
                        </a:defRPr>
                      </a:pPr>
                      <a:r>
                        <a:t>Optical</a:t>
                      </a:r>
                      <a:r>
                        <a:rPr spc="-85"/>
                        <a:t> </a:t>
                      </a:r>
                      <a:r>
                        <a:rPr spc="-20"/>
                        <a:t>Flow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  <a:def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  <a:p>
                      <a:pPr indent="95885" algn="l">
                        <a:defRPr spc="-10">
                          <a:sym typeface="Calibri"/>
                        </a:defRPr>
                      </a:pPr>
                      <a:r>
                        <a:t>Hazard</a:t>
                      </a:r>
                      <a:r>
                        <a:rPr spc="-65"/>
                        <a:t> </a:t>
                      </a:r>
                      <a:r>
                        <a:t>detection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R="640715" indent="97789" algn="l">
                        <a:lnSpc>
                          <a:spcPct val="100800"/>
                        </a:lnSpc>
                        <a:spcBef>
                          <a:spcPts val="1500"/>
                        </a:spcBef>
                        <a:defRPr spc="-10">
                          <a:sym typeface="Calibri"/>
                        </a:defRPr>
                      </a:pPr>
                      <a:r>
                        <a:t>Works</a:t>
                      </a:r>
                      <a:r>
                        <a:rPr spc="-65"/>
                        <a:t> </a:t>
                      </a:r>
                      <a:r>
                        <a:rPr spc="0"/>
                        <a:t>for</a:t>
                      </a:r>
                      <a:r>
                        <a:rPr spc="-65"/>
                        <a:t> </a:t>
                      </a:r>
                      <a:r>
                        <a:t>moving objects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0755"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  <a:def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  <a:p>
                      <a:pPr indent="92075" algn="l">
                        <a:defRPr>
                          <a:sym typeface="Calibri"/>
                        </a:defRPr>
                      </a:pPr>
                      <a:r>
                        <a:t>Patel</a:t>
                      </a:r>
                      <a:r>
                        <a:rPr spc="-30"/>
                        <a:t> </a:t>
                      </a:r>
                      <a:r>
                        <a:t>et</a:t>
                      </a:r>
                      <a:r>
                        <a:rPr spc="-60"/>
                        <a:t> </a:t>
                      </a:r>
                      <a:r>
                        <a:t>al.,</a:t>
                      </a:r>
                      <a:r>
                        <a:rPr spc="5"/>
                        <a:t> </a:t>
                      </a:r>
                      <a:r>
                        <a:rPr spc="-20"/>
                        <a:t>2025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  <a:def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  <a:p>
                      <a:pPr indent="93980" algn="l">
                        <a:defRPr spc="-10">
                          <a:sym typeface="Calibri"/>
                        </a:defRPr>
                      </a:pPr>
                      <a:r>
                        <a:t>YOLOv8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R="902969" indent="95885" algn="l">
                        <a:lnSpc>
                          <a:spcPct val="100800"/>
                        </a:lnSpc>
                        <a:spcBef>
                          <a:spcPts val="1500"/>
                        </a:spcBef>
                        <a:defRPr>
                          <a:sym typeface="Calibri"/>
                        </a:defRPr>
                      </a:pPr>
                      <a:r>
                        <a:t>Sign</a:t>
                      </a:r>
                      <a:r>
                        <a:rPr spc="-25"/>
                        <a:t> </a:t>
                      </a:r>
                      <a:r>
                        <a:t>+</a:t>
                      </a:r>
                      <a:r>
                        <a:rPr spc="30"/>
                        <a:t> </a:t>
                      </a:r>
                      <a:r>
                        <a:rPr spc="-10"/>
                        <a:t>obstacle detection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  <a:def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  <a:p>
                      <a:pPr indent="97789" algn="l">
                        <a:defRPr>
                          <a:sym typeface="Calibri"/>
                        </a:defRPr>
                      </a:pPr>
                      <a:r>
                        <a:t>High</a:t>
                      </a:r>
                      <a:r>
                        <a:rPr spc="-34"/>
                        <a:t> </a:t>
                      </a:r>
                      <a:r>
                        <a:rPr spc="-10"/>
                        <a:t>performance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object 2"/>
          <p:cNvSpPr txBox="1"/>
          <p:nvPr/>
        </p:nvSpPr>
        <p:spPr>
          <a:xfrm>
            <a:off x="571499" y="1797356"/>
            <a:ext cx="5449572" cy="14315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98450" marR="5080" indent="-285750" algn="just">
              <a:lnSpc>
                <a:spcPct val="100899"/>
              </a:lnSpc>
              <a:buSzPct val="100000"/>
              <a:buChar char="▪"/>
              <a:tabLst>
                <a:tab pos="292100" algn="l"/>
              </a:tabLst>
              <a:defRPr sz="2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To</a:t>
            </a:r>
            <a:r>
              <a:rPr spc="35"/>
              <a:t>  </a:t>
            </a:r>
            <a:r>
              <a:t>identify</a:t>
            </a:r>
            <a:r>
              <a:rPr spc="39"/>
              <a:t>  </a:t>
            </a:r>
            <a:r>
              <a:t>and</a:t>
            </a:r>
            <a:r>
              <a:rPr spc="70"/>
              <a:t>  </a:t>
            </a:r>
            <a:r>
              <a:t>locate</a:t>
            </a:r>
            <a:r>
              <a:rPr spc="70"/>
              <a:t>  </a:t>
            </a:r>
            <a:r>
              <a:t>obstacles</a:t>
            </a:r>
            <a:r>
              <a:rPr spc="50"/>
              <a:t>  </a:t>
            </a:r>
            <a:r>
              <a:rPr b="0"/>
              <a:t>such</a:t>
            </a:r>
            <a:r>
              <a:rPr b="0" spc="60"/>
              <a:t>  </a:t>
            </a:r>
            <a:r>
              <a:rPr b="0" spc="-25"/>
              <a:t>as </a:t>
            </a:r>
            <a:r>
              <a:rPr b="0"/>
              <a:t>vehicles,</a:t>
            </a:r>
            <a:r>
              <a:rPr b="0" spc="55"/>
              <a:t>  </a:t>
            </a:r>
            <a:r>
              <a:rPr b="0"/>
              <a:t>pedestrians,</a:t>
            </a:r>
            <a:r>
              <a:rPr b="0" spc="75"/>
              <a:t>  </a:t>
            </a:r>
            <a:r>
              <a:rPr b="0"/>
              <a:t>and</a:t>
            </a:r>
            <a:r>
              <a:rPr b="0" spc="60"/>
              <a:t>  </a:t>
            </a:r>
            <a:r>
              <a:rPr b="0"/>
              <a:t>barriers</a:t>
            </a:r>
            <a:r>
              <a:rPr b="0" spc="70"/>
              <a:t>  </a:t>
            </a:r>
            <a:r>
              <a:rPr b="0"/>
              <a:t>for</a:t>
            </a:r>
            <a:r>
              <a:rPr b="0" spc="70"/>
              <a:t>  </a:t>
            </a:r>
            <a:r>
              <a:rPr b="0" spc="-19"/>
              <a:t>safe </a:t>
            </a:r>
            <a:r>
              <a:rPr b="0" spc="-9"/>
              <a:t>navigation.</a:t>
            </a:r>
          </a:p>
          <a:p>
            <a:pPr marL="298450" marR="13334" indent="-285750" algn="just">
              <a:lnSpc>
                <a:spcPts val="2100"/>
              </a:lnSpc>
              <a:spcBef>
                <a:spcPts val="100"/>
              </a:spcBef>
              <a:buSzPct val="100000"/>
              <a:buChar char="▪"/>
              <a:tabLst>
                <a:tab pos="292100" algn="l"/>
              </a:tabLst>
              <a:defRPr sz="2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To</a:t>
            </a:r>
            <a:r>
              <a:rPr spc="120"/>
              <a:t>  </a:t>
            </a:r>
            <a:r>
              <a:t>enhance</a:t>
            </a:r>
            <a:r>
              <a:rPr spc="145"/>
              <a:t>  </a:t>
            </a:r>
            <a:r>
              <a:t>driving</a:t>
            </a:r>
            <a:r>
              <a:rPr spc="135"/>
              <a:t>  </a:t>
            </a:r>
            <a:r>
              <a:t>safety</a:t>
            </a:r>
            <a:r>
              <a:rPr spc="140"/>
              <a:t>  </a:t>
            </a:r>
            <a:r>
              <a:rPr b="0"/>
              <a:t>by</a:t>
            </a:r>
            <a:r>
              <a:rPr b="0" spc="140"/>
              <a:t>  </a:t>
            </a:r>
            <a:r>
              <a:rPr b="0" spc="-9"/>
              <a:t>providing </a:t>
            </a:r>
            <a:r>
              <a:rPr b="0"/>
              <a:t>timely alerts</a:t>
            </a:r>
            <a:r>
              <a:rPr b="0" spc="-35"/>
              <a:t> </a:t>
            </a:r>
            <a:r>
              <a:rPr b="0"/>
              <a:t>or</a:t>
            </a:r>
            <a:r>
              <a:rPr b="0" spc="-15"/>
              <a:t> </a:t>
            </a:r>
            <a:r>
              <a:rPr b="0"/>
              <a:t>automated</a:t>
            </a:r>
            <a:r>
              <a:rPr b="0" spc="-9"/>
              <a:t> </a:t>
            </a:r>
            <a:r>
              <a:rPr b="0"/>
              <a:t>vehicle</a:t>
            </a:r>
            <a:r>
              <a:rPr b="0" spc="-30"/>
              <a:t> </a:t>
            </a:r>
            <a:r>
              <a:rPr b="0" spc="-9"/>
              <a:t>responses.</a:t>
            </a:r>
          </a:p>
        </p:txBody>
      </p:sp>
      <p:sp>
        <p:nvSpPr>
          <p:cNvPr id="115" name="object 5"/>
          <p:cNvSpPr txBox="1"/>
          <p:nvPr/>
        </p:nvSpPr>
        <p:spPr>
          <a:xfrm>
            <a:off x="571499" y="3111906"/>
            <a:ext cx="5444239" cy="28839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298450">
              <a:spcBef>
                <a:spcPts val="100"/>
              </a:spcBef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298450" marR="6350" indent="-285750" algn="just">
              <a:lnSpc>
                <a:spcPct val="99100"/>
              </a:lnSpc>
              <a:buSzPct val="100000"/>
              <a:buChar char="▪"/>
              <a:tabLst>
                <a:tab pos="292100" algn="l"/>
              </a:tabLst>
              <a:defRPr sz="2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To</a:t>
            </a:r>
            <a:r>
              <a:rPr spc="55"/>
              <a:t>  </a:t>
            </a:r>
            <a:r>
              <a:t>reduce</a:t>
            </a:r>
            <a:r>
              <a:rPr spc="70"/>
              <a:t>  </a:t>
            </a:r>
            <a:r>
              <a:t>human</a:t>
            </a:r>
            <a:r>
              <a:rPr spc="55"/>
              <a:t>  </a:t>
            </a:r>
            <a:r>
              <a:t>errors</a:t>
            </a:r>
            <a:r>
              <a:rPr spc="75"/>
              <a:t>  </a:t>
            </a:r>
            <a:r>
              <a:rPr b="0"/>
              <a:t>by</a:t>
            </a:r>
            <a:r>
              <a:rPr b="0" spc="60"/>
              <a:t>  </a:t>
            </a:r>
            <a:r>
              <a:rPr b="0"/>
              <a:t>assisting</a:t>
            </a:r>
            <a:r>
              <a:rPr b="0" spc="60"/>
              <a:t>  </a:t>
            </a:r>
            <a:r>
              <a:rPr b="0" spc="-25"/>
              <a:t>or </a:t>
            </a:r>
            <a:r>
              <a:rPr b="0"/>
              <a:t>replacing</a:t>
            </a:r>
            <a:r>
              <a:rPr b="0" spc="185"/>
              <a:t> </a:t>
            </a:r>
            <a:r>
              <a:rPr b="0"/>
              <a:t>manual</a:t>
            </a:r>
            <a:r>
              <a:rPr b="0" spc="170"/>
              <a:t> </a:t>
            </a:r>
            <a:r>
              <a:rPr b="0"/>
              <a:t>interpretation</a:t>
            </a:r>
            <a:r>
              <a:rPr b="0" spc="170"/>
              <a:t> </a:t>
            </a:r>
            <a:r>
              <a:rPr b="0"/>
              <a:t>of</a:t>
            </a:r>
            <a:r>
              <a:rPr b="0" spc="164"/>
              <a:t> </a:t>
            </a:r>
            <a:r>
              <a:rPr b="0"/>
              <a:t>road</a:t>
            </a:r>
            <a:r>
              <a:rPr b="0" spc="140"/>
              <a:t> </a:t>
            </a:r>
            <a:r>
              <a:rPr b="0" spc="-9"/>
              <a:t>signs </a:t>
            </a:r>
            <a:r>
              <a:rPr b="0"/>
              <a:t>and </a:t>
            </a:r>
            <a:r>
              <a:rPr b="0" spc="-9"/>
              <a:t>surroundings.</a:t>
            </a:r>
          </a:p>
          <a:p>
            <a:pPr marL="298450" indent="-285750" algn="just">
              <a:buSzPct val="100000"/>
              <a:buChar char="▪"/>
              <a:tabLst>
                <a:tab pos="292100" algn="l"/>
              </a:tabLst>
              <a:defRPr sz="2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To</a:t>
            </a:r>
            <a:r>
              <a:rPr spc="120"/>
              <a:t>  </a:t>
            </a:r>
            <a:r>
              <a:t>integrate</a:t>
            </a:r>
            <a:r>
              <a:rPr spc="145"/>
              <a:t>  </a:t>
            </a:r>
            <a:r>
              <a:t>road</a:t>
            </a:r>
            <a:r>
              <a:rPr spc="135"/>
              <a:t>  </a:t>
            </a:r>
            <a:r>
              <a:t>sign</a:t>
            </a:r>
            <a:r>
              <a:rPr spc="130"/>
              <a:t>  </a:t>
            </a:r>
            <a:r>
              <a:t>recognition</a:t>
            </a:r>
            <a:r>
              <a:rPr spc="145"/>
              <a:t>  </a:t>
            </a:r>
            <a:r>
              <a:rPr spc="-25"/>
              <a:t>and</a:t>
            </a:r>
          </a:p>
          <a:p>
            <a:pPr marR="7620" indent="298450" algn="just">
              <a:lnSpc>
                <a:spcPct val="100800"/>
              </a:lnSpc>
              <a:defRPr sz="2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obstacle</a:t>
            </a:r>
            <a:r>
              <a:rPr spc="30"/>
              <a:t> </a:t>
            </a:r>
            <a:r>
              <a:t>detection</a:t>
            </a:r>
            <a:r>
              <a:rPr spc="35"/>
              <a:t> </a:t>
            </a:r>
            <a:r>
              <a:rPr b="0"/>
              <a:t>into</a:t>
            </a:r>
            <a:r>
              <a:rPr b="0" spc="60"/>
              <a:t> </a:t>
            </a:r>
            <a:r>
              <a:rPr b="0"/>
              <a:t>a</a:t>
            </a:r>
            <a:r>
              <a:rPr b="0" spc="45"/>
              <a:t> </a:t>
            </a:r>
            <a:r>
              <a:rPr b="0"/>
              <a:t>unified</a:t>
            </a:r>
            <a:r>
              <a:rPr b="0" spc="45"/>
              <a:t> </a:t>
            </a:r>
            <a:r>
              <a:rPr b="0" spc="-9"/>
              <a:t>autonomous </a:t>
            </a:r>
            <a:r>
              <a:rPr b="0"/>
              <a:t>driving</a:t>
            </a:r>
            <a:r>
              <a:rPr b="0" spc="-15"/>
              <a:t> </a:t>
            </a:r>
            <a:r>
              <a:rPr b="0" spc="-9"/>
              <a:t>pipeline.</a:t>
            </a:r>
          </a:p>
          <a:p>
            <a:pPr marL="297815" indent="-285115" algn="just">
              <a:lnSpc>
                <a:spcPts val="2100"/>
              </a:lnSpc>
              <a:buSzPct val="100000"/>
              <a:buChar char="▪"/>
              <a:tabLst>
                <a:tab pos="292100" algn="l"/>
              </a:tabLst>
              <a:defRPr sz="2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To</a:t>
            </a:r>
            <a:r>
              <a:rPr spc="469"/>
              <a:t>  </a:t>
            </a:r>
            <a:r>
              <a:t>support</a:t>
            </a:r>
            <a:r>
              <a:rPr spc="480"/>
              <a:t>  </a:t>
            </a:r>
            <a:r>
              <a:rPr spc="-9"/>
              <a:t>decision-</a:t>
            </a:r>
            <a:r>
              <a:t>making</a:t>
            </a:r>
            <a:r>
              <a:rPr spc="494"/>
              <a:t>  </a:t>
            </a:r>
            <a:r>
              <a:rPr b="0"/>
              <a:t>for</a:t>
            </a:r>
            <a:r>
              <a:rPr b="0" spc="480"/>
              <a:t>  </a:t>
            </a:r>
            <a:r>
              <a:rPr b="0" spc="-19"/>
              <a:t>lane</a:t>
            </a:r>
          </a:p>
          <a:p>
            <a:pPr marR="5080" indent="298450" algn="just">
              <a:lnSpc>
                <a:spcPct val="100800"/>
              </a:lnSpc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keeping,</a:t>
            </a:r>
            <a:r>
              <a:rPr spc="270"/>
              <a:t>   </a:t>
            </a:r>
            <a:r>
              <a:t>speed</a:t>
            </a:r>
            <a:r>
              <a:rPr spc="260"/>
              <a:t>   </a:t>
            </a:r>
            <a:r>
              <a:t>control,</a:t>
            </a:r>
            <a:r>
              <a:rPr spc="270"/>
              <a:t>   </a:t>
            </a:r>
            <a:r>
              <a:t>and</a:t>
            </a:r>
            <a:r>
              <a:rPr spc="265"/>
              <a:t>   </a:t>
            </a:r>
            <a:r>
              <a:rPr spc="-9"/>
              <a:t>collision avoidance.</a:t>
            </a:r>
          </a:p>
        </p:txBody>
      </p:sp>
      <p:pic>
        <p:nvPicPr>
          <p:cNvPr id="116" name="object 7" descr="object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52425"/>
            <a:ext cx="935303" cy="1028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7" name="object 8" descr="object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800" y="285750"/>
            <a:ext cx="1162050" cy="962025"/>
          </a:xfrm>
          <a:prstGeom prst="rect">
            <a:avLst/>
          </a:prstGeom>
          <a:ln w="12700">
            <a:miter lim="400000"/>
          </a:ln>
        </p:spPr>
      </p:pic>
      <p:pic>
        <p:nvPicPr>
          <p:cNvPr id="118" name="object 9" descr="object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1562100"/>
            <a:ext cx="5200650" cy="4429125"/>
          </a:xfrm>
          <a:prstGeom prst="rect">
            <a:avLst/>
          </a:prstGeom>
          <a:ln w="12700">
            <a:miter lim="400000"/>
          </a:ln>
        </p:spPr>
      </p:pic>
      <p:sp>
        <p:nvSpPr>
          <p:cNvPr id="119" name="TextBox 11"/>
          <p:cNvSpPr txBox="1"/>
          <p:nvPr/>
        </p:nvSpPr>
        <p:spPr>
          <a:xfrm>
            <a:off x="4465319" y="257174"/>
            <a:ext cx="3261362" cy="715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Objectives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object 7" descr="object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5" y="285750"/>
            <a:ext cx="933450" cy="1028700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Title 8"/>
          <p:cNvSpPr txBox="1">
            <a:spLocks noGrp="1"/>
          </p:cNvSpPr>
          <p:nvPr>
            <p:ph type="title"/>
          </p:nvPr>
        </p:nvSpPr>
        <p:spPr>
          <a:xfrm>
            <a:off x="3138010" y="504051"/>
            <a:ext cx="5915979" cy="553999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t>System Architecture</a:t>
            </a:r>
          </a:p>
        </p:txBody>
      </p:sp>
      <p:pic>
        <p:nvPicPr>
          <p:cNvPr id="123" name="Picture 10" descr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725" y="1524000"/>
            <a:ext cx="10287000" cy="5266055"/>
          </a:xfrm>
          <a:prstGeom prst="rect">
            <a:avLst/>
          </a:prstGeom>
          <a:ln w="12700">
            <a:miter lim="400000"/>
          </a:ln>
        </p:spPr>
      </p:pic>
      <p:pic>
        <p:nvPicPr>
          <p:cNvPr id="124" name="object 4" descr="object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190501"/>
            <a:ext cx="1285875" cy="11811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object 2" descr="object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" y="190500"/>
            <a:ext cx="1101990" cy="1343025"/>
          </a:xfrm>
          <a:prstGeom prst="rect">
            <a:avLst/>
          </a:prstGeom>
          <a:ln w="12700">
            <a:miter lim="400000"/>
          </a:ln>
        </p:spPr>
      </p:pic>
      <p:pic>
        <p:nvPicPr>
          <p:cNvPr id="127" name="object 3" descr="objec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90500"/>
            <a:ext cx="1514475" cy="1343025"/>
          </a:xfrm>
          <a:prstGeom prst="rect">
            <a:avLst/>
          </a:prstGeom>
          <a:ln w="12700">
            <a:miter lim="400000"/>
          </a:ln>
        </p:spPr>
      </p:pic>
      <p:sp>
        <p:nvSpPr>
          <p:cNvPr id="128" name="object 4"/>
          <p:cNvSpPr txBox="1"/>
          <p:nvPr/>
        </p:nvSpPr>
        <p:spPr>
          <a:xfrm>
            <a:off x="508000" y="2143187"/>
            <a:ext cx="8296275" cy="4027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55600" indent="-342900">
              <a:spcBef>
                <a:spcPts val="100"/>
              </a:spcBef>
              <a:buSzPct val="100000"/>
              <a:buFont typeface="Arial"/>
              <a:buChar char="•"/>
              <a:tabLst>
                <a:tab pos="355600" algn="l"/>
              </a:tabLst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This</a:t>
            </a:r>
            <a:r>
              <a:rPr spc="-35"/>
              <a:t> </a:t>
            </a:r>
            <a:r>
              <a:t>module</a:t>
            </a:r>
            <a:r>
              <a:rPr spc="4"/>
              <a:t> </a:t>
            </a:r>
            <a:r>
              <a:t>detects</a:t>
            </a:r>
            <a:r>
              <a:rPr spc="-35"/>
              <a:t> </a:t>
            </a:r>
            <a:r>
              <a:t>traffic</a:t>
            </a:r>
            <a:r>
              <a:rPr spc="-70"/>
              <a:t> </a:t>
            </a:r>
            <a:r>
              <a:t>signs</a:t>
            </a:r>
            <a:r>
              <a:rPr spc="-30"/>
              <a:t> </a:t>
            </a:r>
            <a:r>
              <a:t>from</a:t>
            </a:r>
            <a:r>
              <a:rPr spc="4"/>
              <a:t> </a:t>
            </a:r>
            <a:r>
              <a:t>camera</a:t>
            </a:r>
            <a:r>
              <a:rPr spc="-70"/>
              <a:t> </a:t>
            </a:r>
            <a:r>
              <a:t>or</a:t>
            </a:r>
            <a:r>
              <a:rPr spc="-65"/>
              <a:t> </a:t>
            </a:r>
            <a:r>
              <a:t>dashcam</a:t>
            </a:r>
            <a:r>
              <a:rPr spc="-70"/>
              <a:t> </a:t>
            </a:r>
            <a:r>
              <a:rPr spc="-9"/>
              <a:t>video.</a:t>
            </a:r>
          </a:p>
          <a:p>
            <a:pPr>
              <a:spcBef>
                <a:spcPts val="1300"/>
              </a:spcBef>
              <a:buSzPct val="100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pc="-9"/>
          </a:p>
          <a:p>
            <a:pPr marL="355600" indent="-342900">
              <a:buSzPct val="100000"/>
              <a:buFont typeface="Arial"/>
              <a:buChar char="•"/>
              <a:tabLst>
                <a:tab pos="355600" algn="l"/>
              </a:tabLst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</a:t>
            </a:r>
            <a:r>
              <a:rPr spc="-35"/>
              <a:t> </a:t>
            </a:r>
            <a:r>
              <a:t>helps</a:t>
            </a:r>
            <a:r>
              <a:rPr spc="-35"/>
              <a:t> </a:t>
            </a:r>
            <a:r>
              <a:t>the</a:t>
            </a:r>
            <a:r>
              <a:rPr spc="4"/>
              <a:t> </a:t>
            </a:r>
            <a:r>
              <a:t>vehicle</a:t>
            </a:r>
            <a:r>
              <a:rPr spc="-60"/>
              <a:t> </a:t>
            </a:r>
            <a:r>
              <a:t>understand</a:t>
            </a:r>
            <a:r>
              <a:rPr spc="-35"/>
              <a:t> </a:t>
            </a:r>
            <a:r>
              <a:t>road</a:t>
            </a:r>
            <a:r>
              <a:rPr spc="-35"/>
              <a:t> </a:t>
            </a:r>
            <a:r>
              <a:t>rules</a:t>
            </a:r>
            <a:r>
              <a:rPr spc="-30"/>
              <a:t> </a:t>
            </a:r>
            <a:r>
              <a:t>like</a:t>
            </a:r>
            <a:r>
              <a:rPr spc="4"/>
              <a:t> </a:t>
            </a:r>
            <a:r>
              <a:t>stop</a:t>
            </a:r>
            <a:r>
              <a:rPr spc="-35"/>
              <a:t> </a:t>
            </a:r>
            <a:r>
              <a:t>signs</a:t>
            </a:r>
            <a:r>
              <a:rPr spc="-35"/>
              <a:t> </a:t>
            </a:r>
            <a:r>
              <a:t>and</a:t>
            </a:r>
            <a:r>
              <a:rPr spc="-30"/>
              <a:t> </a:t>
            </a:r>
            <a:r>
              <a:t>speed</a:t>
            </a:r>
            <a:r>
              <a:rPr spc="-35"/>
              <a:t> </a:t>
            </a:r>
            <a:r>
              <a:rPr spc="-9"/>
              <a:t>limits.</a:t>
            </a:r>
          </a:p>
          <a:p>
            <a:pPr>
              <a:spcBef>
                <a:spcPts val="1300"/>
              </a:spcBef>
              <a:buSzPct val="100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pc="-9"/>
          </a:p>
          <a:p>
            <a:pPr marL="355600" indent="-342900">
              <a:buSzPct val="100000"/>
              <a:buFont typeface="Arial"/>
              <a:buChar char="•"/>
              <a:tabLst>
                <a:tab pos="355600" algn="l"/>
              </a:tabLst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</a:t>
            </a:r>
            <a:r>
              <a:rPr spc="-35"/>
              <a:t> </a:t>
            </a:r>
            <a:r>
              <a:t>uses</a:t>
            </a:r>
            <a:r>
              <a:rPr spc="-30"/>
              <a:t> </a:t>
            </a:r>
            <a:r>
              <a:t>deep</a:t>
            </a:r>
            <a:r>
              <a:rPr spc="-25"/>
              <a:t> </a:t>
            </a:r>
            <a:r>
              <a:t>learning</a:t>
            </a:r>
            <a:r>
              <a:rPr spc="-30"/>
              <a:t> </a:t>
            </a:r>
            <a:r>
              <a:t>models</a:t>
            </a:r>
            <a:r>
              <a:rPr spc="-25"/>
              <a:t> </a:t>
            </a:r>
            <a:r>
              <a:rPr spc="-9"/>
              <a:t>like</a:t>
            </a:r>
            <a:r>
              <a:rPr spc="-125"/>
              <a:t> </a:t>
            </a:r>
            <a:r>
              <a:t>YOLO</a:t>
            </a:r>
            <a:r>
              <a:rPr spc="-30"/>
              <a:t> </a:t>
            </a:r>
            <a:r>
              <a:t>and</a:t>
            </a:r>
            <a:r>
              <a:rPr spc="-25"/>
              <a:t> </a:t>
            </a:r>
            <a:r>
              <a:t>CNN</a:t>
            </a:r>
            <a:r>
              <a:rPr spc="-30"/>
              <a:t> </a:t>
            </a:r>
            <a:r>
              <a:t>to</a:t>
            </a:r>
            <a:r>
              <a:rPr spc="-30"/>
              <a:t> </a:t>
            </a:r>
            <a:r>
              <a:t>detect</a:t>
            </a:r>
            <a:r>
              <a:rPr spc="-25"/>
              <a:t> </a:t>
            </a:r>
            <a:r>
              <a:t>signs</a:t>
            </a:r>
            <a:r>
              <a:rPr spc="-30"/>
              <a:t> </a:t>
            </a:r>
            <a:r>
              <a:t>quickly</a:t>
            </a:r>
            <a:r>
              <a:rPr spc="-25"/>
              <a:t> and</a:t>
            </a:r>
          </a:p>
          <a:p>
            <a:pPr>
              <a:spcBef>
                <a:spcPts val="1300"/>
              </a:spcBef>
              <a:buSzPct val="100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pc="-25"/>
          </a:p>
          <a:p>
            <a:pPr indent="355600">
              <a:defRPr sz="2000" spc="-9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accurately.</a:t>
            </a:r>
          </a:p>
          <a:p>
            <a:pPr>
              <a:spcBef>
                <a:spcPts val="1300"/>
              </a:spcBef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355600" indent="-342900">
              <a:buSzPct val="100000"/>
              <a:buFont typeface="Arial"/>
              <a:buChar char="•"/>
              <a:tabLst>
                <a:tab pos="355600" algn="l"/>
              </a:tabLst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Color</a:t>
            </a:r>
            <a:r>
              <a:rPr spc="-60"/>
              <a:t> </a:t>
            </a:r>
            <a:r>
              <a:t>detection</a:t>
            </a:r>
            <a:r>
              <a:rPr spc="-30"/>
              <a:t> </a:t>
            </a:r>
            <a:r>
              <a:t>helps</a:t>
            </a:r>
            <a:r>
              <a:rPr spc="-30"/>
              <a:t> </a:t>
            </a:r>
            <a:r>
              <a:t>identify</a:t>
            </a:r>
            <a:r>
              <a:rPr spc="-30"/>
              <a:t> </a:t>
            </a:r>
            <a:r>
              <a:t>signs</a:t>
            </a:r>
            <a:r>
              <a:rPr spc="-30"/>
              <a:t> </a:t>
            </a:r>
            <a:r>
              <a:t>based</a:t>
            </a:r>
            <a:r>
              <a:rPr spc="-30"/>
              <a:t> </a:t>
            </a:r>
            <a:r>
              <a:t>on</a:t>
            </a:r>
            <a:r>
              <a:rPr spc="-30"/>
              <a:t> </a:t>
            </a:r>
            <a:r>
              <a:t>colors</a:t>
            </a:r>
            <a:r>
              <a:rPr spc="-30"/>
              <a:t> </a:t>
            </a:r>
            <a:r>
              <a:t>like</a:t>
            </a:r>
            <a:r>
              <a:rPr spc="9"/>
              <a:t> </a:t>
            </a:r>
            <a:r>
              <a:t>red,</a:t>
            </a:r>
            <a:r>
              <a:rPr spc="-45"/>
              <a:t> </a:t>
            </a:r>
            <a:r>
              <a:t>blue,</a:t>
            </a:r>
            <a:r>
              <a:rPr spc="-45"/>
              <a:t> </a:t>
            </a:r>
            <a:r>
              <a:t>and</a:t>
            </a:r>
            <a:r>
              <a:rPr spc="-30"/>
              <a:t> </a:t>
            </a:r>
            <a:r>
              <a:rPr spc="-9"/>
              <a:t>yellow.</a:t>
            </a:r>
          </a:p>
          <a:p>
            <a:pPr>
              <a:spcBef>
                <a:spcPts val="1300"/>
              </a:spcBef>
              <a:buSzPct val="100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pc="-9"/>
          </a:p>
          <a:p>
            <a:pPr marL="355600" indent="-342900">
              <a:buSzPct val="100000"/>
              <a:buFont typeface="Arial"/>
              <a:buChar char="•"/>
              <a:tabLst>
                <a:tab pos="355600" algn="l"/>
              </a:tabLst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OCR is</a:t>
            </a:r>
            <a:r>
              <a:rPr spc="-35"/>
              <a:t> </a:t>
            </a:r>
            <a:r>
              <a:t>used</a:t>
            </a:r>
            <a:r>
              <a:rPr spc="-35"/>
              <a:t> </a:t>
            </a:r>
            <a:r>
              <a:t>to</a:t>
            </a:r>
            <a:r>
              <a:rPr spc="-35"/>
              <a:t> </a:t>
            </a:r>
            <a:r>
              <a:t>read</a:t>
            </a:r>
            <a:r>
              <a:rPr spc="-35"/>
              <a:t> </a:t>
            </a:r>
            <a:r>
              <a:t>numbers</a:t>
            </a:r>
            <a:r>
              <a:rPr spc="-30"/>
              <a:t> </a:t>
            </a:r>
            <a:r>
              <a:t>or</a:t>
            </a:r>
            <a:r>
              <a:rPr spc="4"/>
              <a:t> </a:t>
            </a:r>
            <a:r>
              <a:t>text</a:t>
            </a:r>
            <a:r>
              <a:rPr spc="-35"/>
              <a:t> </a:t>
            </a:r>
            <a:r>
              <a:t>on</a:t>
            </a:r>
            <a:r>
              <a:rPr spc="-35"/>
              <a:t> </a:t>
            </a:r>
            <a:r>
              <a:t>signs,</a:t>
            </a:r>
            <a:r>
              <a:rPr spc="-50"/>
              <a:t> </a:t>
            </a:r>
            <a:r>
              <a:t>especially</a:t>
            </a:r>
            <a:r>
              <a:rPr spc="-35"/>
              <a:t> </a:t>
            </a:r>
            <a:r>
              <a:t>speed</a:t>
            </a:r>
            <a:r>
              <a:rPr spc="-30"/>
              <a:t> </a:t>
            </a:r>
            <a:r>
              <a:rPr spc="-9"/>
              <a:t>limits.</a:t>
            </a:r>
          </a:p>
        </p:txBody>
      </p:sp>
      <p:sp>
        <p:nvSpPr>
          <p:cNvPr id="129" name="object 5"/>
          <p:cNvSpPr txBox="1">
            <a:spLocks noGrp="1"/>
          </p:cNvSpPr>
          <p:nvPr>
            <p:ph type="title"/>
          </p:nvPr>
        </p:nvSpPr>
        <p:spPr>
          <a:xfrm>
            <a:off x="4598987" y="330115"/>
            <a:ext cx="1652905" cy="392431"/>
          </a:xfrm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z="2400" spc="-100"/>
            </a:lvl1pPr>
          </a:lstStyle>
          <a:p>
            <a:r>
              <a:t>MODULE-1</a:t>
            </a:r>
          </a:p>
        </p:txBody>
      </p:sp>
      <p:pic>
        <p:nvPicPr>
          <p:cNvPr id="130" name="object 6" descr="object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7300" y="1905000"/>
            <a:ext cx="3219450" cy="4448175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object 7"/>
          <p:cNvSpPr txBox="1"/>
          <p:nvPr/>
        </p:nvSpPr>
        <p:spPr>
          <a:xfrm>
            <a:off x="3429000" y="861204"/>
            <a:ext cx="4495800" cy="329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ROAD</a:t>
            </a:r>
            <a:r>
              <a:rPr spc="-50"/>
              <a:t> </a:t>
            </a:r>
            <a:r>
              <a:t>SIGN</a:t>
            </a:r>
            <a:r>
              <a:rPr spc="-50"/>
              <a:t> </a:t>
            </a:r>
            <a:r>
              <a:rPr spc="-10"/>
              <a:t>RECOGNITION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object 2" descr="object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0" y="0"/>
            <a:ext cx="9210675" cy="68579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object 2" descr="object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" y="190500"/>
            <a:ext cx="1101990" cy="1343025"/>
          </a:xfrm>
          <a:prstGeom prst="rect">
            <a:avLst/>
          </a:prstGeom>
          <a:ln w="12700">
            <a:miter lim="400000"/>
          </a:ln>
        </p:spPr>
      </p:pic>
      <p:pic>
        <p:nvPicPr>
          <p:cNvPr id="136" name="object 3" descr="objec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90500"/>
            <a:ext cx="1514475" cy="1343025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object 4"/>
          <p:cNvSpPr txBox="1">
            <a:spLocks noGrp="1"/>
          </p:cNvSpPr>
          <p:nvPr>
            <p:ph type="title"/>
          </p:nvPr>
        </p:nvSpPr>
        <p:spPr>
          <a:xfrm>
            <a:off x="5163317" y="381247"/>
            <a:ext cx="1652904" cy="391797"/>
          </a:xfrm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z="2400" spc="-100"/>
            </a:lvl1pPr>
          </a:lstStyle>
          <a:p>
            <a:r>
              <a:t>MODULE-2</a:t>
            </a:r>
          </a:p>
        </p:txBody>
      </p:sp>
      <p:sp>
        <p:nvSpPr>
          <p:cNvPr id="138" name="object 5"/>
          <p:cNvSpPr txBox="1"/>
          <p:nvPr/>
        </p:nvSpPr>
        <p:spPr>
          <a:xfrm>
            <a:off x="3716019" y="1448255"/>
            <a:ext cx="8094982" cy="4973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869950">
              <a:spcBef>
                <a:spcPts val="100"/>
              </a:spcBef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>
              <a:spcBef>
                <a:spcPts val="1000"/>
              </a:spcBef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R="106679" indent="12700">
              <a:lnSpc>
                <a:spcPct val="200199"/>
              </a:lnSpc>
              <a:defRPr sz="2000">
                <a:latin typeface="Segoe UI Symbol"/>
                <a:ea typeface="Segoe UI Symbol"/>
                <a:cs typeface="Segoe UI Symbol"/>
                <a:sym typeface="Segoe UI Symbol"/>
              </a:defRPr>
            </a:pPr>
            <a:r>
              <a:t>➤</a:t>
            </a:r>
            <a:r>
              <a:rPr spc="-135"/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This</a:t>
            </a:r>
            <a:r>
              <a:rPr spc="-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module</a:t>
            </a:r>
            <a:r>
              <a:rPr spc="-4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detects</a:t>
            </a:r>
            <a:r>
              <a:rPr spc="-4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obstacles</a:t>
            </a:r>
            <a:r>
              <a:rPr spc="-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like</a:t>
            </a:r>
            <a:r>
              <a:rPr spc="-4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pedestrians,</a:t>
            </a:r>
            <a:r>
              <a:rPr spc="4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vehicles,</a:t>
            </a:r>
            <a:r>
              <a:rPr spc="-6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spc="-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barriers</a:t>
            </a:r>
            <a:r>
              <a:rPr spc="-4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r>
              <a:rPr spc="-4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spc="-25"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spc="-9">
                <a:latin typeface="Times New Roman"/>
                <a:ea typeface="Times New Roman"/>
                <a:cs typeface="Times New Roman"/>
                <a:sym typeface="Times New Roman"/>
              </a:rPr>
              <a:t>road.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spcBef>
                <a:spcPts val="100"/>
              </a:spcBef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12700">
              <a:defRPr sz="2000">
                <a:latin typeface="Segoe UI Symbol"/>
                <a:ea typeface="Segoe UI Symbol"/>
                <a:cs typeface="Segoe UI Symbol"/>
                <a:sym typeface="Segoe UI Symbol"/>
              </a:defRPr>
            </a:pPr>
            <a:r>
              <a:t>➤</a:t>
            </a:r>
            <a:r>
              <a:rPr spc="-90"/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It</a:t>
            </a:r>
            <a:r>
              <a:rPr spc="-3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helps</a:t>
            </a:r>
            <a:r>
              <a:rPr spc="-3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the</a:t>
            </a:r>
            <a:r>
              <a:rPr spc="4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vehicle</a:t>
            </a:r>
            <a:r>
              <a:rPr spc="-6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avoid</a:t>
            </a:r>
            <a:r>
              <a:rPr spc="-3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accidents</a:t>
            </a:r>
            <a:r>
              <a:rPr spc="-3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by</a:t>
            </a:r>
            <a:r>
              <a:rPr spc="-3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identifying</a:t>
            </a:r>
            <a:r>
              <a:rPr spc="-3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objects</a:t>
            </a:r>
            <a:r>
              <a:rPr spc="-3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in</a:t>
            </a:r>
            <a:r>
              <a:rPr spc="-3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real</a:t>
            </a:r>
            <a:r>
              <a:rPr spc="-3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spc="-9">
                <a:latin typeface="Times New Roman"/>
                <a:ea typeface="Times New Roman"/>
                <a:cs typeface="Times New Roman"/>
                <a:sym typeface="Times New Roman"/>
              </a:rPr>
              <a:t>time.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spcBef>
                <a:spcPts val="100"/>
              </a:spcBef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12700">
              <a:defRPr sz="2000">
                <a:latin typeface="Segoe UI Symbol"/>
                <a:ea typeface="Segoe UI Symbol"/>
                <a:cs typeface="Segoe UI Symbol"/>
                <a:sym typeface="Segoe UI Symbol"/>
              </a:defRPr>
            </a:pPr>
            <a:r>
              <a:t>➤</a:t>
            </a:r>
            <a:r>
              <a:rPr spc="-90"/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Deep</a:t>
            </a:r>
            <a:r>
              <a:rPr spc="-3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learning</a:t>
            </a:r>
            <a:r>
              <a:rPr spc="-2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models</a:t>
            </a:r>
            <a:r>
              <a:rPr spc="-3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like</a:t>
            </a:r>
            <a:r>
              <a:rPr spc="-6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YOLO</a:t>
            </a:r>
            <a:r>
              <a:rPr spc="-3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spc="-2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R-CNN</a:t>
            </a:r>
            <a:r>
              <a:rPr spc="-3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are</a:t>
            </a:r>
            <a:r>
              <a:rPr spc="-6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used</a:t>
            </a:r>
            <a:r>
              <a:rPr spc="-2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spc="9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fast</a:t>
            </a:r>
            <a:r>
              <a:rPr spc="-2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spc="-2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spc="-9">
                <a:latin typeface="Times New Roman"/>
                <a:ea typeface="Times New Roman"/>
                <a:cs typeface="Times New Roman"/>
                <a:sym typeface="Times New Roman"/>
              </a:rPr>
              <a:t>accurate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spcBef>
                <a:spcPts val="100"/>
              </a:spcBef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12700">
              <a:defRPr sz="2000" spc="-9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detection.</a:t>
            </a:r>
          </a:p>
          <a:p>
            <a:pPr>
              <a:spcBef>
                <a:spcPts val="100"/>
              </a:spcBef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12700">
              <a:defRPr sz="2000">
                <a:latin typeface="Segoe UI Symbol"/>
                <a:ea typeface="Segoe UI Symbol"/>
                <a:cs typeface="Segoe UI Symbol"/>
                <a:sym typeface="Segoe UI Symbol"/>
              </a:defRPr>
            </a:pPr>
            <a:r>
              <a:t>➤</a:t>
            </a:r>
            <a:r>
              <a:rPr spc="-120"/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The</a:t>
            </a:r>
            <a:r>
              <a:rPr spc="-6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system</a:t>
            </a:r>
            <a:r>
              <a:rPr spc="4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estimates</a:t>
            </a:r>
            <a:r>
              <a:rPr spc="-3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the</a:t>
            </a:r>
            <a:r>
              <a:rPr spc="-6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distance</a:t>
            </a:r>
            <a:r>
              <a:rPr spc="-6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between</a:t>
            </a:r>
            <a:r>
              <a:rPr spc="-3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the</a:t>
            </a:r>
            <a:r>
              <a:rPr spc="9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vehicle</a:t>
            </a:r>
            <a:r>
              <a:rPr spc="-6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spc="-3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the</a:t>
            </a:r>
            <a:r>
              <a:rPr spc="9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spc="-9">
                <a:latin typeface="Times New Roman"/>
                <a:ea typeface="Times New Roman"/>
                <a:cs typeface="Times New Roman"/>
                <a:sym typeface="Times New Roman"/>
              </a:rPr>
              <a:t>obstacle.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spcBef>
                <a:spcPts val="100"/>
              </a:spcBef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12700">
              <a:defRPr sz="2000">
                <a:latin typeface="Segoe UI Symbol"/>
                <a:ea typeface="Segoe UI Symbol"/>
                <a:cs typeface="Segoe UI Symbol"/>
                <a:sym typeface="Segoe UI Symbol"/>
              </a:defRPr>
            </a:pPr>
            <a:r>
              <a:t>➤</a:t>
            </a:r>
            <a:r>
              <a:rPr spc="-100"/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Based</a:t>
            </a:r>
            <a:r>
              <a:rPr spc="-3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r>
              <a:rPr spc="-39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distance,</a:t>
            </a:r>
            <a:r>
              <a:rPr spc="19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the vehicle</a:t>
            </a:r>
            <a:r>
              <a:rPr spc="-7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can</a:t>
            </a:r>
            <a:r>
              <a:rPr spc="-39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brake,</a:t>
            </a:r>
            <a:r>
              <a:rPr spc="19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slow</a:t>
            </a:r>
            <a:r>
              <a:rPr spc="-39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down,</a:t>
            </a:r>
            <a:r>
              <a:rPr spc="-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or</a:t>
            </a:r>
            <a:r>
              <a:rPr spc="-7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change</a:t>
            </a:r>
            <a:r>
              <a:rPr spc="-7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spc="-9">
                <a:latin typeface="Times New Roman"/>
                <a:ea typeface="Times New Roman"/>
                <a:cs typeface="Times New Roman"/>
                <a:sym typeface="Times New Roman"/>
              </a:rPr>
              <a:t>direction.</a:t>
            </a:r>
          </a:p>
        </p:txBody>
      </p:sp>
      <p:pic>
        <p:nvPicPr>
          <p:cNvPr id="139" name="object 6" descr="object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50" y="2419350"/>
            <a:ext cx="3000375" cy="3571875"/>
          </a:xfrm>
          <a:prstGeom prst="rect">
            <a:avLst/>
          </a:prstGeom>
          <a:ln w="12700">
            <a:miter lim="400000"/>
          </a:ln>
        </p:spPr>
      </p:pic>
      <p:sp>
        <p:nvSpPr>
          <p:cNvPr id="140" name="TextBox 6"/>
          <p:cNvSpPr txBox="1"/>
          <p:nvPr/>
        </p:nvSpPr>
        <p:spPr>
          <a:xfrm>
            <a:off x="3208019" y="862011"/>
            <a:ext cx="5775962" cy="764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2400" b="1" spc="-2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OBSTACLE</a:t>
            </a:r>
            <a:r>
              <a:rPr spc="-35"/>
              <a:t> </a:t>
            </a:r>
            <a:r>
              <a:rPr spc="-10"/>
              <a:t>DETECTION</a:t>
            </a:r>
            <a:r>
              <a:rPr spc="-80"/>
              <a:t> </a:t>
            </a:r>
            <a:r>
              <a:rPr spc="-10"/>
              <a:t>AND</a:t>
            </a:r>
            <a:r>
              <a:rPr spc="-75"/>
              <a:t> </a:t>
            </a:r>
            <a:r>
              <a:rPr spc="-10"/>
              <a:t>AVOIDANCE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object 2" descr="object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887" y="323850"/>
            <a:ext cx="10256863" cy="62103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object 2" descr="object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" y="190500"/>
            <a:ext cx="1101990" cy="1343025"/>
          </a:xfrm>
          <a:prstGeom prst="rect">
            <a:avLst/>
          </a:prstGeom>
          <a:ln w="12700">
            <a:miter lim="400000"/>
          </a:ln>
        </p:spPr>
      </p:pic>
      <p:pic>
        <p:nvPicPr>
          <p:cNvPr id="145" name="object 3" descr="objec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90500"/>
            <a:ext cx="1514475" cy="1343025"/>
          </a:xfrm>
          <a:prstGeom prst="rect">
            <a:avLst/>
          </a:prstGeom>
          <a:ln w="12700">
            <a:miter lim="400000"/>
          </a:ln>
        </p:spPr>
      </p:pic>
      <p:sp>
        <p:nvSpPr>
          <p:cNvPr id="146" name="object 4"/>
          <p:cNvSpPr txBox="1">
            <a:spLocks noGrp="1"/>
          </p:cNvSpPr>
          <p:nvPr>
            <p:ph type="title"/>
          </p:nvPr>
        </p:nvSpPr>
        <p:spPr>
          <a:xfrm>
            <a:off x="5011801" y="434022"/>
            <a:ext cx="1652905" cy="391796"/>
          </a:xfrm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z="2400" spc="-100"/>
            </a:lvl1pPr>
          </a:lstStyle>
          <a:p>
            <a:r>
              <a:t>MODULE-3</a:t>
            </a:r>
          </a:p>
        </p:txBody>
      </p:sp>
      <p:sp>
        <p:nvSpPr>
          <p:cNvPr id="147" name="object 5"/>
          <p:cNvSpPr txBox="1"/>
          <p:nvPr/>
        </p:nvSpPr>
        <p:spPr>
          <a:xfrm>
            <a:off x="236536" y="2249105"/>
            <a:ext cx="8131811" cy="337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2000">
                <a:latin typeface="Segoe UI Symbol"/>
                <a:ea typeface="Segoe UI Symbol"/>
                <a:cs typeface="Segoe UI Symbol"/>
                <a:sym typeface="Segoe UI Symbol"/>
              </a:defRPr>
            </a:pPr>
            <a:r>
              <a:t>➤</a:t>
            </a:r>
            <a:r>
              <a:rPr spc="-120"/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This</a:t>
            </a:r>
            <a:r>
              <a:rPr spc="-2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module</a:t>
            </a:r>
            <a:r>
              <a:rPr spc="1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detects</a:t>
            </a:r>
            <a:r>
              <a:rPr spc="-3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lane</a:t>
            </a:r>
            <a:r>
              <a:rPr spc="-6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markings</a:t>
            </a:r>
            <a:r>
              <a:rPr spc="-2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r>
              <a:rPr spc="-2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the</a:t>
            </a:r>
            <a:r>
              <a:rPr spc="-5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road</a:t>
            </a:r>
            <a:r>
              <a:rPr spc="-3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using</a:t>
            </a:r>
            <a:r>
              <a:rPr spc="-2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camera</a:t>
            </a:r>
            <a:r>
              <a:rPr spc="-6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spc="-9">
                <a:latin typeface="Times New Roman"/>
                <a:ea typeface="Times New Roman"/>
                <a:cs typeface="Times New Roman"/>
                <a:sym typeface="Times New Roman"/>
              </a:rPr>
              <a:t>images.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spcBef>
                <a:spcPts val="100"/>
              </a:spcBef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12700">
              <a:defRPr sz="2000">
                <a:latin typeface="Segoe UI Symbol"/>
                <a:ea typeface="Segoe UI Symbol"/>
                <a:cs typeface="Segoe UI Symbol"/>
                <a:sym typeface="Segoe UI Symbol"/>
              </a:defRPr>
            </a:pPr>
            <a:r>
              <a:t>➤</a:t>
            </a:r>
            <a:r>
              <a:rPr spc="-85"/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It</a:t>
            </a:r>
            <a:r>
              <a:rPr spc="-3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helps</a:t>
            </a:r>
            <a:r>
              <a:rPr spc="-2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the</a:t>
            </a:r>
            <a:r>
              <a:rPr spc="9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vehicle</a:t>
            </a:r>
            <a:r>
              <a:rPr spc="-6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stay</a:t>
            </a:r>
            <a:r>
              <a:rPr spc="-2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in</a:t>
            </a:r>
            <a:r>
              <a:rPr spc="-3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the</a:t>
            </a:r>
            <a:r>
              <a:rPr spc="-6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correct</a:t>
            </a:r>
            <a:r>
              <a:rPr spc="-2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lane</a:t>
            </a:r>
            <a:r>
              <a:rPr spc="9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while</a:t>
            </a:r>
            <a:r>
              <a:rPr spc="9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spc="-9">
                <a:latin typeface="Times New Roman"/>
                <a:ea typeface="Times New Roman"/>
                <a:cs typeface="Times New Roman"/>
                <a:sym typeface="Times New Roman"/>
              </a:rPr>
              <a:t>driving.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R="5080" indent="12700">
              <a:lnSpc>
                <a:spcPts val="4800"/>
              </a:lnSpc>
              <a:spcBef>
                <a:spcPts val="500"/>
              </a:spcBef>
              <a:defRPr sz="2000">
                <a:latin typeface="Segoe UI Symbol"/>
                <a:ea typeface="Segoe UI Symbol"/>
                <a:cs typeface="Segoe UI Symbol"/>
                <a:sym typeface="Segoe UI Symbol"/>
              </a:defRPr>
            </a:pPr>
            <a:r>
              <a:t>➤</a:t>
            </a:r>
            <a:r>
              <a:rPr spc="-130"/>
              <a:t> </a:t>
            </a:r>
            <a:r>
              <a:rPr spc="-9">
                <a:latin typeface="Times New Roman"/>
                <a:ea typeface="Times New Roman"/>
                <a:cs typeface="Times New Roman"/>
                <a:sym typeface="Times New Roman"/>
              </a:rPr>
              <a:t>Techniques</a:t>
            </a:r>
            <a:r>
              <a:rPr spc="-3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like</a:t>
            </a:r>
            <a:r>
              <a:rPr spc="-7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Canny</a:t>
            </a:r>
            <a:r>
              <a:rPr spc="-3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edge</a:t>
            </a:r>
            <a:r>
              <a:rPr spc="-7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detection</a:t>
            </a:r>
            <a:r>
              <a:rPr spc="-3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spc="-39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Hough</a:t>
            </a:r>
            <a:r>
              <a:rPr spc="-3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spc="-9">
                <a:latin typeface="Times New Roman"/>
                <a:ea typeface="Times New Roman"/>
                <a:cs typeface="Times New Roman"/>
                <a:sym typeface="Times New Roman"/>
              </a:rPr>
              <a:t>Transform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 are used</a:t>
            </a:r>
            <a:r>
              <a:rPr spc="-3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to</a:t>
            </a:r>
            <a:r>
              <a:rPr spc="-39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spc="-19">
                <a:latin typeface="Times New Roman"/>
                <a:ea typeface="Times New Roman"/>
                <a:cs typeface="Times New Roman"/>
                <a:sym typeface="Times New Roman"/>
              </a:rPr>
              <a:t>find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lane</a:t>
            </a:r>
            <a:r>
              <a:rPr spc="-3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spc="-9">
                <a:latin typeface="Times New Roman"/>
                <a:ea typeface="Times New Roman"/>
                <a:cs typeface="Times New Roman"/>
                <a:sym typeface="Times New Roman"/>
              </a:rPr>
              <a:t>lines.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12700">
              <a:spcBef>
                <a:spcPts val="1800"/>
              </a:spcBef>
              <a:defRPr sz="2000">
                <a:latin typeface="Segoe UI Symbol"/>
                <a:ea typeface="Segoe UI Symbol"/>
                <a:cs typeface="Segoe UI Symbol"/>
                <a:sym typeface="Segoe UI Symbol"/>
              </a:defRPr>
            </a:pPr>
            <a:r>
              <a:t>➤</a:t>
            </a:r>
            <a:r>
              <a:rPr spc="-185"/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Advanced</a:t>
            </a:r>
            <a:r>
              <a:rPr spc="-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CNN</a:t>
            </a:r>
            <a:r>
              <a:rPr spc="-39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models</a:t>
            </a:r>
            <a:r>
              <a:rPr spc="-3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improve detection</a:t>
            </a:r>
            <a:r>
              <a:rPr spc="-3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in</a:t>
            </a:r>
            <a:r>
              <a:rPr spc="-39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curved</a:t>
            </a:r>
            <a:r>
              <a:rPr spc="-3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or</a:t>
            </a:r>
            <a:r>
              <a:rPr spc="-6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faded</a:t>
            </a:r>
            <a:r>
              <a:rPr spc="-39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spc="-9">
                <a:latin typeface="Times New Roman"/>
                <a:ea typeface="Times New Roman"/>
                <a:cs typeface="Times New Roman"/>
                <a:sym typeface="Times New Roman"/>
              </a:rPr>
              <a:t>lanes.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spcBef>
                <a:spcPts val="100"/>
              </a:spcBef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12700">
              <a:defRPr sz="2000">
                <a:latin typeface="Segoe UI Symbol"/>
                <a:ea typeface="Segoe UI Symbol"/>
                <a:cs typeface="Segoe UI Symbol"/>
                <a:sym typeface="Segoe UI Symbol"/>
              </a:defRPr>
            </a:pPr>
            <a:r>
              <a:t>➤</a:t>
            </a:r>
            <a:r>
              <a:rPr spc="-120"/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The</a:t>
            </a:r>
            <a:r>
              <a:rPr spc="-5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system</a:t>
            </a:r>
            <a:r>
              <a:rPr spc="1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gives</a:t>
            </a:r>
            <a:r>
              <a:rPr spc="-2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spc="-6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warning</a:t>
            </a:r>
            <a:r>
              <a:rPr spc="-2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spc="1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the</a:t>
            </a:r>
            <a:r>
              <a:rPr spc="-6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vehicle</a:t>
            </a:r>
            <a:r>
              <a:rPr spc="9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moves</a:t>
            </a:r>
            <a:r>
              <a:rPr spc="-2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out</a:t>
            </a:r>
            <a:r>
              <a:rPr spc="-2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of</a:t>
            </a:r>
            <a:r>
              <a:rPr spc="-5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the</a:t>
            </a:r>
            <a:r>
              <a:rPr spc="-5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spc="-9">
                <a:latin typeface="Times New Roman"/>
                <a:ea typeface="Times New Roman"/>
                <a:cs typeface="Times New Roman"/>
                <a:sym typeface="Times New Roman"/>
              </a:rPr>
              <a:t>lane.</a:t>
            </a:r>
          </a:p>
        </p:txBody>
      </p:sp>
      <p:pic>
        <p:nvPicPr>
          <p:cNvPr id="148" name="object 6" descr="object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000250"/>
            <a:ext cx="3457575" cy="3981450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object 7"/>
          <p:cNvSpPr txBox="1"/>
          <p:nvPr/>
        </p:nvSpPr>
        <p:spPr>
          <a:xfrm>
            <a:off x="2778441" y="931384"/>
            <a:ext cx="6635117" cy="672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 algn="ctr">
              <a:spcBef>
                <a:spcPts val="100"/>
              </a:spcBef>
              <a:defRPr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LANE</a:t>
            </a:r>
            <a:r>
              <a:rPr spc="-50"/>
              <a:t> </a:t>
            </a:r>
            <a:r>
              <a:rPr spc="-10"/>
              <a:t>DETECTION</a:t>
            </a:r>
            <a:r>
              <a:rPr spc="-85"/>
              <a:t> </a:t>
            </a:r>
            <a:r>
              <a:t>AND</a:t>
            </a:r>
            <a:r>
              <a:rPr spc="-5"/>
              <a:t> </a:t>
            </a:r>
            <a:r>
              <a:t>LANE</a:t>
            </a:r>
            <a:r>
              <a:rPr spc="-40"/>
              <a:t> </a:t>
            </a:r>
            <a:r>
              <a:rPr spc="-25"/>
              <a:t>DEPARTURE</a:t>
            </a:r>
            <a:r>
              <a:rPr spc="-40"/>
              <a:t> </a:t>
            </a:r>
            <a:r>
              <a:rPr spc="-10"/>
              <a:t>WARNING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object 2" descr="object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464" y="0"/>
            <a:ext cx="9364135" cy="64829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object 2"/>
          <p:cNvSpPr txBox="1">
            <a:spLocks noGrp="1"/>
          </p:cNvSpPr>
          <p:nvPr>
            <p:ph type="title"/>
          </p:nvPr>
        </p:nvSpPr>
        <p:spPr>
          <a:xfrm>
            <a:off x="557047" y="788162"/>
            <a:ext cx="4288792" cy="1090043"/>
          </a:xfrm>
          <a:prstGeom prst="rect">
            <a:avLst/>
          </a:prstGeom>
        </p:spPr>
        <p:txBody>
          <a:bodyPr/>
          <a:lstStyle/>
          <a:p>
            <a:pPr indent="12700" algn="ctr">
              <a:lnSpc>
                <a:spcPts val="2700"/>
              </a:lnSpc>
              <a:spcBef>
                <a:spcPts val="100"/>
              </a:spcBef>
              <a:defRPr sz="2400"/>
            </a:pPr>
            <a:r>
              <a:t>MODULE</a:t>
            </a:r>
            <a:r>
              <a:rPr spc="-100"/>
              <a:t> </a:t>
            </a:r>
            <a:r>
              <a:t>–</a:t>
            </a:r>
            <a:r>
              <a:rPr spc="-100"/>
              <a:t> 4</a:t>
            </a:r>
          </a:p>
          <a:p>
            <a:pPr indent="12700" algn="ctr">
              <a:lnSpc>
                <a:spcPts val="2700"/>
              </a:lnSpc>
              <a:defRPr sz="2400"/>
            </a:pPr>
            <a:r>
              <a:t>VEHICLE</a:t>
            </a:r>
            <a:r>
              <a:rPr spc="-100"/>
              <a:t> </a:t>
            </a:r>
            <a:r>
              <a:t>CONTROL</a:t>
            </a:r>
            <a:r>
              <a:rPr spc="-100"/>
              <a:t> </a:t>
            </a:r>
            <a:r>
              <a:t>AND</a:t>
            </a:r>
            <a:r>
              <a:rPr spc="-100"/>
              <a:t> DECISION  MAKING</a:t>
            </a:r>
          </a:p>
        </p:txBody>
      </p:sp>
      <p:sp>
        <p:nvSpPr>
          <p:cNvPr id="154" name="object 4"/>
          <p:cNvSpPr/>
          <p:nvPr/>
        </p:nvSpPr>
        <p:spPr>
          <a:xfrm>
            <a:off x="409575" y="628650"/>
            <a:ext cx="552450" cy="66675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5" name="object 5"/>
          <p:cNvSpPr/>
          <p:nvPr/>
        </p:nvSpPr>
        <p:spPr>
          <a:xfrm>
            <a:off x="409575" y="2286000"/>
            <a:ext cx="4391025" cy="19050"/>
          </a:xfrm>
          <a:prstGeom prst="rect">
            <a:avLst/>
          </a:prstGeom>
          <a:solidFill>
            <a:srgbClr val="D4D4D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6" name="object 6"/>
          <p:cNvSpPr txBox="1"/>
          <p:nvPr/>
        </p:nvSpPr>
        <p:spPr>
          <a:xfrm>
            <a:off x="490537" y="2726371"/>
            <a:ext cx="4350385" cy="3218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98450" marR="6985" indent="-286384">
              <a:lnSpc>
                <a:spcPct val="100800"/>
              </a:lnSpc>
              <a:buSzPct val="100000"/>
              <a:buFont typeface="Arial"/>
              <a:buChar char="•"/>
              <a:tabLst>
                <a:tab pos="292100" algn="l"/>
              </a:tabLst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This</a:t>
            </a:r>
            <a:r>
              <a:rPr spc="39"/>
              <a:t> </a:t>
            </a:r>
            <a:r>
              <a:t>module</a:t>
            </a:r>
            <a:r>
              <a:rPr spc="50"/>
              <a:t> </a:t>
            </a:r>
            <a:r>
              <a:t>makes</a:t>
            </a:r>
            <a:r>
              <a:rPr spc="25"/>
              <a:t> </a:t>
            </a:r>
            <a:r>
              <a:t>driving</a:t>
            </a:r>
            <a:r>
              <a:rPr spc="35"/>
              <a:t> </a:t>
            </a:r>
            <a:r>
              <a:t>decisions</a:t>
            </a:r>
            <a:r>
              <a:rPr spc="35"/>
              <a:t> </a:t>
            </a:r>
            <a:r>
              <a:rPr spc="-9"/>
              <a:t>based </a:t>
            </a:r>
            <a:r>
              <a:t>on</a:t>
            </a:r>
            <a:r>
              <a:rPr spc="-9"/>
              <a:t> </a:t>
            </a:r>
            <a:r>
              <a:t>detected</a:t>
            </a:r>
            <a:r>
              <a:rPr spc="-4"/>
              <a:t> </a:t>
            </a:r>
            <a:r>
              <a:t>signs</a:t>
            </a:r>
            <a:r>
              <a:rPr spc="-9"/>
              <a:t> </a:t>
            </a:r>
            <a:r>
              <a:t>and</a:t>
            </a:r>
            <a:r>
              <a:rPr spc="-30"/>
              <a:t> </a:t>
            </a:r>
            <a:r>
              <a:rPr spc="-9"/>
              <a:t>obstacles.</a:t>
            </a:r>
          </a:p>
          <a:p>
            <a:pPr marL="298450" marR="11429" indent="-286384">
              <a:lnSpc>
                <a:spcPct val="100800"/>
              </a:lnSpc>
              <a:spcBef>
                <a:spcPts val="600"/>
              </a:spcBef>
              <a:buSzPct val="100000"/>
              <a:buFont typeface="Arial"/>
              <a:buChar char="•"/>
              <a:tabLst>
                <a:tab pos="292100" algn="l"/>
              </a:tabLst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</a:t>
            </a:r>
            <a:r>
              <a:rPr spc="135"/>
              <a:t> </a:t>
            </a:r>
            <a:r>
              <a:t>decides</a:t>
            </a:r>
            <a:r>
              <a:rPr spc="125"/>
              <a:t> </a:t>
            </a:r>
            <a:r>
              <a:t>whether</a:t>
            </a:r>
            <a:r>
              <a:rPr spc="170"/>
              <a:t> </a:t>
            </a:r>
            <a:r>
              <a:t>to</a:t>
            </a:r>
            <a:r>
              <a:rPr spc="114"/>
              <a:t> </a:t>
            </a:r>
            <a:r>
              <a:t>brake,</a:t>
            </a:r>
            <a:r>
              <a:rPr spc="155"/>
              <a:t> </a:t>
            </a:r>
            <a:r>
              <a:t>slow</a:t>
            </a:r>
            <a:r>
              <a:rPr spc="140"/>
              <a:t> </a:t>
            </a:r>
            <a:r>
              <a:t>down,</a:t>
            </a:r>
            <a:r>
              <a:rPr spc="170"/>
              <a:t> </a:t>
            </a:r>
            <a:r>
              <a:rPr spc="-25"/>
              <a:t>or </a:t>
            </a:r>
            <a:r>
              <a:t>maintain</a:t>
            </a:r>
            <a:r>
              <a:rPr spc="-19"/>
              <a:t> </a:t>
            </a:r>
            <a:r>
              <a:rPr spc="-9"/>
              <a:t>speed.</a:t>
            </a:r>
          </a:p>
          <a:p>
            <a:pPr marL="298450" marR="5080" indent="-286384">
              <a:lnSpc>
                <a:spcPct val="100800"/>
              </a:lnSpc>
              <a:spcBef>
                <a:spcPts val="500"/>
              </a:spcBef>
              <a:buSzPct val="100000"/>
              <a:buFont typeface="Arial"/>
              <a:buChar char="•"/>
              <a:tabLst>
                <a:tab pos="292100" algn="l"/>
              </a:tabLst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</a:t>
            </a:r>
            <a:r>
              <a:rPr spc="329"/>
              <a:t> </a:t>
            </a:r>
            <a:r>
              <a:t>controls</a:t>
            </a:r>
            <a:r>
              <a:rPr spc="340"/>
              <a:t> </a:t>
            </a:r>
            <a:r>
              <a:t>steering</a:t>
            </a:r>
            <a:r>
              <a:rPr spc="340"/>
              <a:t> </a:t>
            </a:r>
            <a:r>
              <a:t>to</a:t>
            </a:r>
            <a:r>
              <a:rPr spc="310"/>
              <a:t> </a:t>
            </a:r>
            <a:r>
              <a:t>keep</a:t>
            </a:r>
            <a:r>
              <a:rPr spc="360"/>
              <a:t> </a:t>
            </a:r>
            <a:r>
              <a:t>the</a:t>
            </a:r>
            <a:r>
              <a:rPr spc="310"/>
              <a:t> </a:t>
            </a:r>
            <a:r>
              <a:t>vehicle</a:t>
            </a:r>
            <a:r>
              <a:rPr spc="319"/>
              <a:t> </a:t>
            </a:r>
            <a:r>
              <a:rPr spc="-25"/>
              <a:t>in </a:t>
            </a:r>
            <a:r>
              <a:t>the</a:t>
            </a:r>
            <a:r>
              <a:rPr spc="-35"/>
              <a:t> </a:t>
            </a:r>
            <a:r>
              <a:t>correct</a:t>
            </a:r>
            <a:r>
              <a:rPr spc="4"/>
              <a:t> </a:t>
            </a:r>
            <a:r>
              <a:rPr spc="-19"/>
              <a:t>lane.</a:t>
            </a:r>
          </a:p>
          <a:p>
            <a:pPr marL="298450" indent="-285750">
              <a:spcBef>
                <a:spcPts val="600"/>
              </a:spcBef>
              <a:buSzPct val="100000"/>
              <a:buFont typeface="Arial"/>
              <a:buChar char="•"/>
              <a:tabLst>
                <a:tab pos="292100" algn="l"/>
              </a:tabLst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</a:t>
            </a:r>
            <a:r>
              <a:rPr spc="-19"/>
              <a:t> </a:t>
            </a:r>
            <a:r>
              <a:t>calculates</a:t>
            </a:r>
            <a:r>
              <a:rPr spc="4"/>
              <a:t> </a:t>
            </a:r>
            <a:r>
              <a:t>risk</a:t>
            </a:r>
            <a:r>
              <a:rPr spc="-4"/>
              <a:t> </a:t>
            </a:r>
            <a:r>
              <a:t>level before</a:t>
            </a:r>
            <a:r>
              <a:rPr spc="-25"/>
              <a:t> </a:t>
            </a:r>
            <a:r>
              <a:t>taking</a:t>
            </a:r>
            <a:r>
              <a:rPr spc="-9"/>
              <a:t> action.</a:t>
            </a:r>
          </a:p>
          <a:p>
            <a:pPr marL="298450" marR="8254" indent="-286384">
              <a:lnSpc>
                <a:spcPct val="100800"/>
              </a:lnSpc>
              <a:spcBef>
                <a:spcPts val="600"/>
              </a:spcBef>
              <a:buSzPct val="100000"/>
              <a:buFont typeface="Arial"/>
              <a:buChar char="•"/>
              <a:tabLst>
                <a:tab pos="292100" algn="l"/>
                <a:tab pos="863600" algn="l"/>
                <a:tab pos="1714500" algn="l"/>
                <a:tab pos="2247900" algn="l"/>
                <a:tab pos="2603500" algn="l"/>
                <a:tab pos="3048000" algn="l"/>
                <a:tab pos="3683000" algn="l"/>
                <a:tab pos="4051300" algn="l"/>
              </a:tabLst>
              <a:defRPr sz="2000" spc="-19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This</a:t>
            </a:r>
            <a:r>
              <a:rPr spc="0"/>
              <a:t>	</a:t>
            </a:r>
            <a:r>
              <a:rPr spc="-9"/>
              <a:t>module</a:t>
            </a:r>
            <a:r>
              <a:rPr spc="0"/>
              <a:t>	</a:t>
            </a:r>
            <a:r>
              <a:t>acts</a:t>
            </a:r>
            <a:r>
              <a:rPr spc="0"/>
              <a:t>	</a:t>
            </a:r>
            <a:r>
              <a:rPr spc="-25"/>
              <a:t>as</a:t>
            </a:r>
            <a:r>
              <a:rPr spc="0"/>
              <a:t>	</a:t>
            </a:r>
            <a:r>
              <a:rPr spc="-25"/>
              <a:t>the</a:t>
            </a:r>
            <a:r>
              <a:rPr spc="0"/>
              <a:t>	</a:t>
            </a:r>
            <a:r>
              <a:t>brain</a:t>
            </a:r>
            <a:r>
              <a:rPr spc="0"/>
              <a:t>	</a:t>
            </a:r>
            <a:r>
              <a:rPr spc="-25"/>
              <a:t>of</a:t>
            </a:r>
            <a:r>
              <a:rPr spc="0"/>
              <a:t>	</a:t>
            </a:r>
            <a:r>
              <a:rPr spc="-25"/>
              <a:t>the </a:t>
            </a:r>
            <a:r>
              <a:rPr spc="0"/>
              <a:t>autonomous</a:t>
            </a:r>
            <a:r>
              <a:rPr spc="-25"/>
              <a:t> </a:t>
            </a:r>
            <a:r>
              <a:rPr spc="-9"/>
              <a:t>system.</a:t>
            </a:r>
          </a:p>
        </p:txBody>
      </p:sp>
      <p:pic>
        <p:nvPicPr>
          <p:cNvPr id="157" name="object 8" descr="object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9225" y="0"/>
            <a:ext cx="6962775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8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1612" y="152400"/>
            <a:ext cx="6858001" cy="65532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60" name="object 3" descr="object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1" name="object 4" descr="object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809622"/>
              <a:ext cx="11277600" cy="59436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63" name="object 5"/>
          <p:cNvSpPr txBox="1">
            <a:spLocks noGrp="1"/>
          </p:cNvSpPr>
          <p:nvPr>
            <p:ph type="title"/>
          </p:nvPr>
        </p:nvSpPr>
        <p:spPr>
          <a:xfrm>
            <a:off x="5139054" y="-55879"/>
            <a:ext cx="1920876" cy="878839"/>
          </a:xfrm>
          <a:prstGeom prst="rect">
            <a:avLst/>
          </a:prstGeom>
        </p:spPr>
        <p:txBody>
          <a:bodyPr/>
          <a:lstStyle/>
          <a:p>
            <a:pPr marL="207645" marR="5080" indent="-195580">
              <a:lnSpc>
                <a:spcPct val="102400"/>
              </a:lnSpc>
            </a:pPr>
            <a:r>
              <a:t>MODULE-</a:t>
            </a:r>
            <a:r>
              <a:rPr spc="-100"/>
              <a:t>4 OUTPUT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object 3"/>
          <p:cNvSpPr txBox="1"/>
          <p:nvPr/>
        </p:nvSpPr>
        <p:spPr>
          <a:xfrm>
            <a:off x="71248" y="923704"/>
            <a:ext cx="5211996" cy="1026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 algn="ctr">
              <a:lnSpc>
                <a:spcPts val="2700"/>
              </a:lnSpc>
              <a:spcBef>
                <a:spcPts val="100"/>
              </a:spcBef>
              <a:defRPr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MODULE</a:t>
            </a:r>
            <a:r>
              <a:rPr spc="-40"/>
              <a:t> </a:t>
            </a:r>
            <a:r>
              <a:t>–</a:t>
            </a:r>
            <a:r>
              <a:rPr spc="-45"/>
              <a:t> </a:t>
            </a:r>
            <a:r>
              <a:rPr spc="-50"/>
              <a:t>5</a:t>
            </a:r>
          </a:p>
          <a:p>
            <a:pPr indent="12700" algn="ctr">
              <a:lnSpc>
                <a:spcPts val="2700"/>
              </a:lnSpc>
              <a:defRPr sz="2400" b="1" spc="-11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DATA</a:t>
            </a:r>
            <a:r>
              <a:rPr spc="-45"/>
              <a:t> </a:t>
            </a:r>
            <a:r>
              <a:rPr spc="0"/>
              <a:t>FUSION</a:t>
            </a:r>
            <a:r>
              <a:rPr spc="-10"/>
              <a:t> </a:t>
            </a:r>
            <a:r>
              <a:rPr spc="-25"/>
              <a:t>AND</a:t>
            </a:r>
            <a:br>
              <a:rPr spc="-25"/>
            </a:br>
            <a:r>
              <a:rPr spc="-10"/>
              <a:t>ENVIRONMENTAL</a:t>
            </a:r>
            <a:r>
              <a:rPr spc="-95"/>
              <a:t> </a:t>
            </a:r>
            <a:r>
              <a:rPr spc="-10"/>
              <a:t>PERCEPTION</a:t>
            </a:r>
          </a:p>
        </p:txBody>
      </p:sp>
      <p:sp>
        <p:nvSpPr>
          <p:cNvPr id="166" name="object 4"/>
          <p:cNvSpPr/>
          <p:nvPr/>
        </p:nvSpPr>
        <p:spPr>
          <a:xfrm>
            <a:off x="409575" y="628650"/>
            <a:ext cx="552450" cy="66675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7" name="object 5"/>
          <p:cNvSpPr/>
          <p:nvPr/>
        </p:nvSpPr>
        <p:spPr>
          <a:xfrm>
            <a:off x="409575" y="2286000"/>
            <a:ext cx="4391025" cy="19050"/>
          </a:xfrm>
          <a:prstGeom prst="rect">
            <a:avLst/>
          </a:prstGeom>
          <a:solidFill>
            <a:srgbClr val="D4D4D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8" name="object 6"/>
          <p:cNvSpPr txBox="1"/>
          <p:nvPr/>
        </p:nvSpPr>
        <p:spPr>
          <a:xfrm>
            <a:off x="71248" y="2387898"/>
            <a:ext cx="6473149" cy="2818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98450" marR="5714" indent="-286384">
              <a:lnSpc>
                <a:spcPct val="128899"/>
              </a:lnSpc>
              <a:buSzPct val="100000"/>
              <a:buFont typeface="Arial"/>
              <a:buChar char="•"/>
              <a:tabLst>
                <a:tab pos="292100" algn="l"/>
              </a:tabLst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This</a:t>
            </a:r>
            <a:r>
              <a:rPr spc="25"/>
              <a:t> </a:t>
            </a:r>
            <a:r>
              <a:t>module</a:t>
            </a:r>
            <a:r>
              <a:rPr spc="50"/>
              <a:t> </a:t>
            </a:r>
            <a:r>
              <a:t>combines</a:t>
            </a:r>
            <a:r>
              <a:rPr spc="65"/>
              <a:t> </a:t>
            </a:r>
            <a:r>
              <a:t>data</a:t>
            </a:r>
            <a:r>
              <a:rPr spc="30"/>
              <a:t> </a:t>
            </a:r>
            <a:r>
              <a:t>from</a:t>
            </a:r>
            <a:r>
              <a:rPr spc="79"/>
              <a:t> </a:t>
            </a:r>
            <a:r>
              <a:t>all</a:t>
            </a:r>
            <a:r>
              <a:rPr spc="85"/>
              <a:t> </a:t>
            </a:r>
            <a:r>
              <a:rPr spc="-9"/>
              <a:t>detection modules.</a:t>
            </a:r>
          </a:p>
          <a:p>
            <a:pPr marL="298450" marR="5080" indent="-286384">
              <a:lnSpc>
                <a:spcPct val="132600"/>
              </a:lnSpc>
              <a:spcBef>
                <a:spcPts val="500"/>
              </a:spcBef>
              <a:buSzPct val="100000"/>
              <a:buFont typeface="Arial"/>
              <a:buChar char="•"/>
              <a:tabLst>
                <a:tab pos="292100" algn="l"/>
                <a:tab pos="609600" algn="l"/>
                <a:tab pos="1612900" algn="l"/>
                <a:tab pos="2565400" algn="l"/>
                <a:tab pos="2971800" algn="l"/>
                <a:tab pos="3924300" algn="l"/>
              </a:tabLst>
              <a:defRPr sz="2000" spc="-25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</a:t>
            </a:r>
            <a:r>
              <a:rPr spc="0"/>
              <a:t>	</a:t>
            </a:r>
            <a:r>
              <a:rPr spc="-9"/>
              <a:t>improves accuracy</a:t>
            </a:r>
            <a:r>
              <a:rPr spc="0"/>
              <a:t>	</a:t>
            </a:r>
            <a:r>
              <a:t>by </a:t>
            </a:r>
            <a:r>
              <a:rPr spc="-9"/>
              <a:t>reducing</a:t>
            </a:r>
            <a:r>
              <a:rPr spc="0"/>
              <a:t>	</a:t>
            </a:r>
            <a:r>
              <a:rPr spc="-9"/>
              <a:t>false detections.</a:t>
            </a:r>
          </a:p>
          <a:p>
            <a:pPr marL="298450" marR="5080" indent="-286384">
              <a:lnSpc>
                <a:spcPct val="128800"/>
              </a:lnSpc>
              <a:spcBef>
                <a:spcPts val="600"/>
              </a:spcBef>
              <a:buSzPct val="100000"/>
              <a:buFont typeface="Arial"/>
              <a:buChar char="•"/>
              <a:tabLst>
                <a:tab pos="292100" algn="l"/>
              </a:tabLst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</a:t>
            </a:r>
            <a:r>
              <a:rPr spc="35"/>
              <a:t>  </a:t>
            </a:r>
            <a:r>
              <a:t>creates</a:t>
            </a:r>
            <a:r>
              <a:rPr spc="50"/>
              <a:t>  </a:t>
            </a:r>
            <a:r>
              <a:t>a</a:t>
            </a:r>
            <a:r>
              <a:rPr spc="50"/>
              <a:t>  </a:t>
            </a:r>
            <a:r>
              <a:t>complete</a:t>
            </a:r>
            <a:r>
              <a:rPr spc="55"/>
              <a:t>  </a:t>
            </a:r>
            <a:r>
              <a:t>understanding</a:t>
            </a:r>
            <a:r>
              <a:rPr spc="60"/>
              <a:t>  </a:t>
            </a:r>
            <a:r>
              <a:t>of</a:t>
            </a:r>
            <a:r>
              <a:rPr spc="65"/>
              <a:t>  </a:t>
            </a:r>
            <a:r>
              <a:rPr spc="-25"/>
              <a:t>the </a:t>
            </a:r>
            <a:r>
              <a:t>road</a:t>
            </a:r>
            <a:r>
              <a:rPr spc="-25"/>
              <a:t> </a:t>
            </a:r>
            <a:r>
              <a:rPr spc="-9"/>
              <a:t>environment.</a:t>
            </a:r>
          </a:p>
          <a:p>
            <a:pPr marL="298450" indent="-285750">
              <a:spcBef>
                <a:spcPts val="1200"/>
              </a:spcBef>
              <a:buSzPct val="100000"/>
              <a:buFont typeface="Arial"/>
              <a:buChar char="•"/>
              <a:tabLst>
                <a:tab pos="292100" algn="l"/>
              </a:tabLst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</a:t>
            </a:r>
            <a:r>
              <a:rPr spc="-45"/>
              <a:t> </a:t>
            </a:r>
            <a:r>
              <a:t>tracks</a:t>
            </a:r>
            <a:r>
              <a:rPr spc="-9"/>
              <a:t> </a:t>
            </a:r>
            <a:r>
              <a:t>multiple</a:t>
            </a:r>
            <a:r>
              <a:rPr spc="-30"/>
              <a:t> </a:t>
            </a:r>
            <a:r>
              <a:t>objects</a:t>
            </a:r>
            <a:r>
              <a:rPr spc="19"/>
              <a:t> </a:t>
            </a:r>
            <a:r>
              <a:t>at</a:t>
            </a:r>
            <a:r>
              <a:rPr spc="-4"/>
              <a:t> </a:t>
            </a:r>
            <a:r>
              <a:t>the</a:t>
            </a:r>
            <a:r>
              <a:rPr spc="-39"/>
              <a:t> </a:t>
            </a:r>
            <a:r>
              <a:t>same</a:t>
            </a:r>
            <a:r>
              <a:rPr spc="-50"/>
              <a:t> </a:t>
            </a:r>
            <a:r>
              <a:rPr spc="-9"/>
              <a:t>time.</a:t>
            </a:r>
          </a:p>
          <a:p>
            <a:pPr marL="298450" marR="10795" indent="-286384">
              <a:lnSpc>
                <a:spcPct val="128800"/>
              </a:lnSpc>
              <a:spcBef>
                <a:spcPts val="600"/>
              </a:spcBef>
              <a:buSzPct val="100000"/>
              <a:buFont typeface="Arial"/>
              <a:buChar char="•"/>
              <a:tabLst>
                <a:tab pos="292100" algn="l"/>
              </a:tabLst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</a:t>
            </a:r>
            <a:r>
              <a:rPr spc="480"/>
              <a:t> </a:t>
            </a:r>
            <a:r>
              <a:t>ensures</a:t>
            </a:r>
            <a:r>
              <a:rPr spc="45"/>
              <a:t>  </a:t>
            </a:r>
            <a:r>
              <a:t>reliable</a:t>
            </a:r>
            <a:r>
              <a:rPr spc="484"/>
              <a:t> </a:t>
            </a:r>
            <a:r>
              <a:t>performance</a:t>
            </a:r>
            <a:r>
              <a:rPr spc="50"/>
              <a:t>  </a:t>
            </a:r>
            <a:r>
              <a:t>in</a:t>
            </a:r>
            <a:r>
              <a:rPr spc="60"/>
              <a:t>  </a:t>
            </a:r>
            <a:r>
              <a:rPr spc="-9"/>
              <a:t>different </a:t>
            </a:r>
            <a:r>
              <a:t>lighting</a:t>
            </a:r>
            <a:r>
              <a:rPr spc="-25"/>
              <a:t> </a:t>
            </a:r>
            <a:r>
              <a:t>and</a:t>
            </a:r>
            <a:r>
              <a:rPr spc="-30"/>
              <a:t> </a:t>
            </a:r>
            <a:r>
              <a:t>weather</a:t>
            </a:r>
            <a:r>
              <a:rPr spc="-45"/>
              <a:t> </a:t>
            </a:r>
            <a:r>
              <a:rPr spc="-9"/>
              <a:t>condition</a:t>
            </a:r>
          </a:p>
        </p:txBody>
      </p:sp>
      <p:pic>
        <p:nvPicPr>
          <p:cNvPr id="169" name="Picture 9" descr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979" y="0"/>
            <a:ext cx="5870596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object 2" descr="object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914400"/>
            <a:ext cx="9067801" cy="5281820"/>
          </a:xfrm>
          <a:prstGeom prst="rect">
            <a:avLst/>
          </a:prstGeom>
          <a:ln w="12700">
            <a:miter lim="400000"/>
          </a:ln>
        </p:spPr>
      </p:pic>
      <p:sp>
        <p:nvSpPr>
          <p:cNvPr id="172" name="object 3"/>
          <p:cNvSpPr txBox="1">
            <a:spLocks noGrp="1"/>
          </p:cNvSpPr>
          <p:nvPr>
            <p:ph type="title"/>
          </p:nvPr>
        </p:nvSpPr>
        <p:spPr>
          <a:xfrm>
            <a:off x="990600" y="249666"/>
            <a:ext cx="10001885" cy="393066"/>
          </a:xfrm>
          <a:prstGeom prst="rect">
            <a:avLst/>
          </a:prstGeom>
          <a:solidFill>
            <a:srgbClr val="030303"/>
          </a:solidFill>
        </p:spPr>
        <p:txBody>
          <a:bodyPr/>
          <a:lstStyle/>
          <a:p>
            <a:pPr>
              <a:spcBef>
                <a:spcPts val="100"/>
              </a:spcBef>
              <a:tabLst>
                <a:tab pos="1562100" algn="l"/>
                <a:tab pos="8851900" algn="l"/>
              </a:tabLst>
              <a:defRPr sz="2200" b="0" spc="-100">
                <a:solidFill>
                  <a:srgbClr val="DFDFD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MODULE</a:t>
            </a:r>
            <a:r>
              <a:rPr spc="-200"/>
              <a:t> </a:t>
            </a:r>
            <a:r>
              <a:rPr>
                <a:solidFill>
                  <a:srgbClr val="F9F9F9"/>
                </a:solidFill>
              </a:rPr>
              <a:t>-</a:t>
            </a:r>
            <a:r>
              <a:rPr spc="0">
                <a:solidFill>
                  <a:srgbClr val="F9F9F9"/>
                </a:solidFill>
              </a:rPr>
              <a:t>	</a:t>
            </a:r>
            <a:r>
              <a:rPr spc="0"/>
              <a:t>5</a:t>
            </a:r>
            <a:r>
              <a:rPr spc="-200"/>
              <a:t> </a:t>
            </a:r>
            <a:r>
              <a:t>DATA FUSION </a:t>
            </a:r>
            <a:r>
              <a:rPr spc="0"/>
              <a:t>AND</a:t>
            </a:r>
            <a:r>
              <a:rPr spc="-200"/>
              <a:t> </a:t>
            </a:r>
            <a:r>
              <a:t>ENVIRONMENTAL</a:t>
            </a:r>
            <a:r>
              <a:rPr spc="100"/>
              <a:t> </a:t>
            </a:r>
            <a:r>
              <a:rPr spc="-200"/>
              <a:t>PERCEPTION</a:t>
            </a:r>
            <a:r>
              <a:rPr spc="0"/>
              <a:t> </a:t>
            </a:r>
            <a:r>
              <a:rPr>
                <a:solidFill>
                  <a:srgbClr val="F9F9F9"/>
                </a:solidFill>
              </a:rPr>
              <a:t>-</a:t>
            </a:r>
            <a:r>
              <a:rPr spc="0">
                <a:solidFill>
                  <a:srgbClr val="F9F9F9"/>
                </a:solidFill>
              </a:rPr>
              <a:t>	</a:t>
            </a:r>
            <a:r>
              <a:t>OUTPUT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object 2" descr="object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0" y="1295399"/>
            <a:ext cx="5467351" cy="49815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5" name="object 3" descr="objec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2675" y="1346493"/>
            <a:ext cx="5791200" cy="4930481"/>
          </a:xfrm>
          <a:prstGeom prst="rect">
            <a:avLst/>
          </a:prstGeom>
          <a:ln w="12700">
            <a:miter lim="400000"/>
          </a:ln>
        </p:spPr>
      </p:pic>
      <p:sp>
        <p:nvSpPr>
          <p:cNvPr id="176" name="object 4"/>
          <p:cNvSpPr txBox="1">
            <a:spLocks noGrp="1"/>
          </p:cNvSpPr>
          <p:nvPr>
            <p:ph type="title"/>
          </p:nvPr>
        </p:nvSpPr>
        <p:spPr>
          <a:xfrm>
            <a:off x="1884044" y="-55880"/>
            <a:ext cx="8244842" cy="1647826"/>
          </a:xfrm>
          <a:prstGeom prst="rect">
            <a:avLst/>
          </a:prstGeom>
        </p:spPr>
        <p:txBody>
          <a:bodyPr/>
          <a:lstStyle>
            <a:lvl1pPr indent="2613025">
              <a:spcBef>
                <a:spcPts val="100"/>
              </a:spcBef>
              <a:defRPr spc="-100"/>
            </a:lvl1pPr>
          </a:lstStyle>
          <a:p>
            <a:r>
              <a:t>IMPLEMENTATION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object 2" descr="object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115" y="914400"/>
            <a:ext cx="5943601" cy="5838822"/>
          </a:xfrm>
          <a:prstGeom prst="rect">
            <a:avLst/>
          </a:prstGeom>
          <a:ln w="12700">
            <a:miter lim="400000"/>
          </a:ln>
        </p:spPr>
      </p:pic>
      <p:sp>
        <p:nvSpPr>
          <p:cNvPr id="179" name="object 6"/>
          <p:cNvSpPr txBox="1">
            <a:spLocks noGrp="1"/>
          </p:cNvSpPr>
          <p:nvPr>
            <p:ph type="title"/>
          </p:nvPr>
        </p:nvSpPr>
        <p:spPr>
          <a:xfrm>
            <a:off x="4714874" y="250823"/>
            <a:ext cx="1412242" cy="449582"/>
          </a:xfrm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pc="-100"/>
            </a:lvl1pPr>
          </a:lstStyle>
          <a:p>
            <a:r>
              <a:t>RESULT</a:t>
            </a:r>
          </a:p>
        </p:txBody>
      </p:sp>
      <p:sp>
        <p:nvSpPr>
          <p:cNvPr id="180" name="TextBox 7"/>
          <p:cNvSpPr txBox="1"/>
          <p:nvPr/>
        </p:nvSpPr>
        <p:spPr>
          <a:xfrm>
            <a:off x="300991" y="1142999"/>
            <a:ext cx="5699125" cy="4751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755650" indent="-285750" algn="just">
              <a:lnSpc>
                <a:spcPct val="150000"/>
              </a:lnSpc>
              <a:spcBef>
                <a:spcPts val="100"/>
              </a:spcBef>
              <a:buSzPct val="100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</a:t>
            </a:r>
            <a:r>
              <a:rPr spc="-35"/>
              <a:t> </a:t>
            </a:r>
            <a:r>
              <a:t>system</a:t>
            </a:r>
            <a:r>
              <a:rPr spc="4"/>
              <a:t> </a:t>
            </a:r>
            <a:r>
              <a:t>successfully</a:t>
            </a:r>
            <a:r>
              <a:rPr spc="35"/>
              <a:t> </a:t>
            </a:r>
            <a:r>
              <a:t>detected</a:t>
            </a:r>
            <a:r>
              <a:rPr spc="4"/>
              <a:t> </a:t>
            </a:r>
            <a:r>
              <a:t>road</a:t>
            </a:r>
            <a:r>
              <a:rPr spc="-25"/>
              <a:t> </a:t>
            </a:r>
            <a:r>
              <a:t>signs </a:t>
            </a:r>
            <a:r>
              <a:rPr spc="-19"/>
              <a:t>like </a:t>
            </a:r>
            <a:r>
              <a:rPr spc="-25"/>
              <a:t>stop and </a:t>
            </a:r>
            <a:r>
              <a:t>speed</a:t>
            </a:r>
            <a:r>
              <a:rPr spc="-15"/>
              <a:t> </a:t>
            </a:r>
            <a:r>
              <a:t>limit</a:t>
            </a:r>
            <a:r>
              <a:rPr spc="-25"/>
              <a:t> </a:t>
            </a:r>
            <a:r>
              <a:t>signs</a:t>
            </a:r>
            <a:r>
              <a:rPr spc="4"/>
              <a:t> </a:t>
            </a:r>
            <a:r>
              <a:t>in</a:t>
            </a:r>
            <a:r>
              <a:rPr spc="-25"/>
              <a:t> </a:t>
            </a:r>
            <a:r>
              <a:t>real</a:t>
            </a:r>
            <a:r>
              <a:rPr spc="25"/>
              <a:t> </a:t>
            </a:r>
            <a:r>
              <a:rPr spc="-19"/>
              <a:t>time.</a:t>
            </a:r>
          </a:p>
          <a:p>
            <a:pPr marL="297816" marR="5714" indent="-285750" algn="just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•"/>
              <a:tabLst>
                <a:tab pos="469900" algn="l"/>
              </a:tabLst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</a:t>
            </a:r>
            <a:r>
              <a:rPr spc="440"/>
              <a:t> </a:t>
            </a:r>
            <a:r>
              <a:t>correctly</a:t>
            </a:r>
            <a:r>
              <a:rPr spc="484"/>
              <a:t> </a:t>
            </a:r>
            <a:r>
              <a:t>identified</a:t>
            </a:r>
            <a:r>
              <a:rPr spc="459"/>
              <a:t> </a:t>
            </a:r>
            <a:r>
              <a:t>obstacles</a:t>
            </a:r>
            <a:r>
              <a:rPr spc="444"/>
              <a:t> </a:t>
            </a:r>
            <a:r>
              <a:t>such</a:t>
            </a:r>
            <a:r>
              <a:rPr spc="455"/>
              <a:t> </a:t>
            </a:r>
            <a:r>
              <a:t>as</a:t>
            </a:r>
            <a:r>
              <a:rPr spc="430"/>
              <a:t> </a:t>
            </a:r>
            <a:r>
              <a:rPr spc="-9"/>
              <a:t>pedestrians </a:t>
            </a:r>
            <a:r>
              <a:t>and</a:t>
            </a:r>
            <a:r>
              <a:rPr spc="-55"/>
              <a:t> </a:t>
            </a:r>
            <a:r>
              <a:t>vehicles</a:t>
            </a:r>
            <a:r>
              <a:rPr spc="9"/>
              <a:t> </a:t>
            </a:r>
            <a:r>
              <a:t>using</a:t>
            </a:r>
            <a:r>
              <a:rPr spc="-15"/>
              <a:t> </a:t>
            </a:r>
            <a:r>
              <a:t>object</a:t>
            </a:r>
            <a:r>
              <a:rPr spc="-15"/>
              <a:t> </a:t>
            </a:r>
            <a:r>
              <a:t>detection</a:t>
            </a:r>
            <a:r>
              <a:rPr spc="-9"/>
              <a:t> models.</a:t>
            </a:r>
          </a:p>
          <a:p>
            <a:pPr marL="297816" marR="11429" indent="-285750" algn="just">
              <a:lnSpc>
                <a:spcPct val="150000"/>
              </a:lnSpc>
              <a:buSzPct val="100000"/>
              <a:buFont typeface="Arial"/>
              <a:buChar char="•"/>
              <a:tabLst>
                <a:tab pos="469900" algn="l"/>
              </a:tabLst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</a:t>
            </a:r>
            <a:r>
              <a:rPr spc="9"/>
              <a:t> </a:t>
            </a:r>
            <a:r>
              <a:t>lane</a:t>
            </a:r>
            <a:r>
              <a:rPr spc="60"/>
              <a:t> </a:t>
            </a:r>
            <a:r>
              <a:t>detection</a:t>
            </a:r>
            <a:r>
              <a:rPr spc="39"/>
              <a:t> </a:t>
            </a:r>
            <a:r>
              <a:t>module</a:t>
            </a:r>
            <a:r>
              <a:rPr spc="55"/>
              <a:t> </a:t>
            </a:r>
            <a:r>
              <a:t>accurately</a:t>
            </a:r>
            <a:r>
              <a:rPr spc="9"/>
              <a:t> </a:t>
            </a:r>
            <a:r>
              <a:t>highlighted</a:t>
            </a:r>
            <a:r>
              <a:rPr spc="65"/>
              <a:t> </a:t>
            </a:r>
            <a:r>
              <a:rPr spc="-19"/>
              <a:t>lane </a:t>
            </a:r>
            <a:r>
              <a:t>markings</a:t>
            </a:r>
            <a:r>
              <a:rPr spc="-15"/>
              <a:t> </a:t>
            </a:r>
            <a:r>
              <a:t>and</a:t>
            </a:r>
            <a:r>
              <a:rPr spc="-30"/>
              <a:t> </a:t>
            </a:r>
            <a:r>
              <a:t>helped</a:t>
            </a:r>
            <a:r>
              <a:rPr spc="-4"/>
              <a:t> </a:t>
            </a:r>
            <a:r>
              <a:t>maintain the</a:t>
            </a:r>
            <a:r>
              <a:rPr spc="-30"/>
              <a:t> </a:t>
            </a:r>
            <a:r>
              <a:t>correct</a:t>
            </a:r>
            <a:r>
              <a:rPr spc="-4"/>
              <a:t> </a:t>
            </a:r>
            <a:r>
              <a:rPr spc="-9"/>
              <a:t>lane.</a:t>
            </a:r>
          </a:p>
          <a:p>
            <a:pPr marL="297816" marR="5714" indent="-285750" algn="just">
              <a:lnSpc>
                <a:spcPct val="150000"/>
              </a:lnSpc>
              <a:buSzPct val="100000"/>
              <a:buFont typeface="Arial"/>
              <a:buChar char="•"/>
              <a:tabLst>
                <a:tab pos="469900" algn="l"/>
                <a:tab pos="2603500" algn="l"/>
                <a:tab pos="3416300" algn="l"/>
                <a:tab pos="4432300" algn="l"/>
              </a:tabLst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</a:t>
            </a:r>
            <a:r>
              <a:rPr spc="85"/>
              <a:t>  </a:t>
            </a:r>
            <a:r>
              <a:rPr spc="-9"/>
              <a:t>decision-making</a:t>
            </a:r>
            <a:r>
              <a:t>	</a:t>
            </a:r>
            <a:r>
              <a:rPr spc="-9"/>
              <a:t>module</a:t>
            </a:r>
            <a:r>
              <a:t>	</a:t>
            </a:r>
            <a:r>
              <a:rPr spc="-9"/>
              <a:t>generated</a:t>
            </a:r>
            <a:r>
              <a:t>	</a:t>
            </a:r>
            <a:r>
              <a:rPr spc="-9"/>
              <a:t>appropriate </a:t>
            </a:r>
            <a:r>
              <a:t>actions</a:t>
            </a:r>
            <a:r>
              <a:rPr spc="-50"/>
              <a:t> </a:t>
            </a:r>
            <a:r>
              <a:t>like</a:t>
            </a:r>
            <a:r>
              <a:rPr spc="4"/>
              <a:t> </a:t>
            </a:r>
            <a:r>
              <a:t>brake,</a:t>
            </a:r>
            <a:r>
              <a:rPr spc="4"/>
              <a:t> </a:t>
            </a:r>
            <a:r>
              <a:t>slow</a:t>
            </a:r>
            <a:r>
              <a:rPr spc="-19"/>
              <a:t> </a:t>
            </a:r>
            <a:r>
              <a:t>down, or</a:t>
            </a:r>
            <a:r>
              <a:rPr spc="-25"/>
              <a:t> </a:t>
            </a:r>
            <a:r>
              <a:t>maintain</a:t>
            </a:r>
            <a:r>
              <a:rPr spc="-19"/>
              <a:t> </a:t>
            </a:r>
            <a:r>
              <a:rPr spc="-9"/>
              <a:t>speed.</a:t>
            </a:r>
          </a:p>
          <a:p>
            <a:pPr marL="297816" marR="5080" indent="-285750" algn="just">
              <a:lnSpc>
                <a:spcPct val="150000"/>
              </a:lnSpc>
              <a:buSzPct val="100000"/>
              <a:buFont typeface="Arial"/>
              <a:buChar char="•"/>
              <a:tabLst>
                <a:tab pos="469900" algn="l"/>
              </a:tabLst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Overall,</a:t>
            </a:r>
            <a:r>
              <a:rPr spc="85"/>
              <a:t> </a:t>
            </a:r>
            <a:r>
              <a:t>the</a:t>
            </a:r>
            <a:r>
              <a:rPr spc="70"/>
              <a:t> </a:t>
            </a:r>
            <a:r>
              <a:t>system</a:t>
            </a:r>
            <a:r>
              <a:rPr spc="95"/>
              <a:t> </a:t>
            </a:r>
            <a:r>
              <a:t>showed</a:t>
            </a:r>
            <a:r>
              <a:rPr spc="104"/>
              <a:t> </a:t>
            </a:r>
            <a:r>
              <a:t>fast</a:t>
            </a:r>
            <a:r>
              <a:rPr spc="95"/>
              <a:t> </a:t>
            </a:r>
            <a:r>
              <a:t>processing</a:t>
            </a:r>
            <a:r>
              <a:rPr spc="75"/>
              <a:t> </a:t>
            </a:r>
            <a:r>
              <a:t>speed</a:t>
            </a:r>
            <a:r>
              <a:rPr spc="75"/>
              <a:t> </a:t>
            </a:r>
            <a:r>
              <a:rPr spc="-25"/>
              <a:t>and </a:t>
            </a:r>
            <a:r>
              <a:t>good</a:t>
            </a:r>
            <a:r>
              <a:rPr spc="-15"/>
              <a:t> </a:t>
            </a:r>
            <a:r>
              <a:t>accuracy</a:t>
            </a:r>
            <a:r>
              <a:rPr spc="15"/>
              <a:t> </a:t>
            </a:r>
            <a:r>
              <a:t>in</a:t>
            </a:r>
            <a:r>
              <a:rPr spc="-30"/>
              <a:t> </a:t>
            </a:r>
            <a:r>
              <a:t>different</a:t>
            </a:r>
            <a:r>
              <a:rPr spc="-35"/>
              <a:t> </a:t>
            </a:r>
            <a:r>
              <a:t>road</a:t>
            </a:r>
            <a:r>
              <a:rPr spc="-25"/>
              <a:t> </a:t>
            </a:r>
            <a:r>
              <a:rPr spc="-9"/>
              <a:t>conditions.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object 2"/>
          <p:cNvSpPr txBox="1">
            <a:spLocks noGrp="1"/>
          </p:cNvSpPr>
          <p:nvPr>
            <p:ph type="title"/>
          </p:nvPr>
        </p:nvSpPr>
        <p:spPr>
          <a:xfrm>
            <a:off x="1884044" y="-55880"/>
            <a:ext cx="8244842" cy="1647826"/>
          </a:xfrm>
          <a:prstGeom prst="rect">
            <a:avLst/>
          </a:prstGeom>
        </p:spPr>
        <p:txBody>
          <a:bodyPr/>
          <a:lstStyle/>
          <a:p>
            <a:pPr indent="2741295">
              <a:spcBef>
                <a:spcPts val="100"/>
              </a:spcBef>
            </a:pPr>
            <a:r>
              <a:t>FUTURE</a:t>
            </a:r>
            <a:r>
              <a:rPr spc="100"/>
              <a:t> </a:t>
            </a:r>
            <a:r>
              <a:rPr spc="-100"/>
              <a:t>SCOPE</a:t>
            </a:r>
          </a:p>
        </p:txBody>
      </p:sp>
      <p:sp>
        <p:nvSpPr>
          <p:cNvPr id="183" name="object 3"/>
          <p:cNvSpPr txBox="1"/>
          <p:nvPr/>
        </p:nvSpPr>
        <p:spPr>
          <a:xfrm>
            <a:off x="609599" y="1539240"/>
            <a:ext cx="5901375" cy="42563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98450" marR="5080" indent="-286384">
              <a:lnSpc>
                <a:spcPct val="153000"/>
              </a:lnSpc>
              <a:spcBef>
                <a:spcPts val="100"/>
              </a:spcBef>
              <a:buSzPct val="100000"/>
              <a:buFont typeface="Arial"/>
              <a:buChar char="•"/>
              <a:tabLst>
                <a:tab pos="292100" algn="l"/>
              </a:tabLst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</a:t>
            </a:r>
            <a:r>
              <a:rPr spc="415"/>
              <a:t> </a:t>
            </a:r>
            <a:r>
              <a:t>system</a:t>
            </a:r>
            <a:r>
              <a:rPr spc="444"/>
              <a:t> </a:t>
            </a:r>
            <a:r>
              <a:t>can</a:t>
            </a:r>
            <a:r>
              <a:rPr spc="465"/>
              <a:t> </a:t>
            </a:r>
            <a:r>
              <a:t>be</a:t>
            </a:r>
            <a:r>
              <a:rPr spc="440"/>
              <a:t> </a:t>
            </a:r>
            <a:r>
              <a:t>improved</a:t>
            </a:r>
            <a:r>
              <a:rPr spc="450"/>
              <a:t> </a:t>
            </a:r>
            <a:r>
              <a:t>by</a:t>
            </a:r>
            <a:r>
              <a:rPr spc="434"/>
              <a:t> </a:t>
            </a:r>
            <a:r>
              <a:t>using</a:t>
            </a:r>
            <a:r>
              <a:rPr spc="440"/>
              <a:t> </a:t>
            </a:r>
            <a:r>
              <a:t>larger</a:t>
            </a:r>
            <a:r>
              <a:rPr spc="415"/>
              <a:t> </a:t>
            </a:r>
            <a:r>
              <a:rPr spc="-25"/>
              <a:t>and </a:t>
            </a:r>
            <a:r>
              <a:t>more</a:t>
            </a:r>
            <a:r>
              <a:rPr spc="-35"/>
              <a:t> </a:t>
            </a:r>
            <a:r>
              <a:t>advanced</a:t>
            </a:r>
            <a:r>
              <a:rPr spc="-15"/>
              <a:t> </a:t>
            </a:r>
            <a:r>
              <a:t>training</a:t>
            </a:r>
            <a:r>
              <a:rPr spc="-15"/>
              <a:t> </a:t>
            </a:r>
            <a:r>
              <a:t>datasets</a:t>
            </a:r>
            <a:r>
              <a:rPr spc="-15"/>
              <a:t> </a:t>
            </a:r>
            <a:r>
              <a:t>for</a:t>
            </a:r>
            <a:r>
              <a:rPr spc="9"/>
              <a:t> </a:t>
            </a:r>
            <a:r>
              <a:t>better</a:t>
            </a:r>
            <a:r>
              <a:rPr spc="-15"/>
              <a:t> </a:t>
            </a:r>
            <a:r>
              <a:rPr spc="-9"/>
              <a:t>accuracy.</a:t>
            </a:r>
          </a:p>
          <a:p>
            <a:pPr marL="298450" marR="11429" indent="-286384">
              <a:lnSpc>
                <a:spcPct val="149400"/>
              </a:lnSpc>
              <a:buSzPct val="100000"/>
              <a:buFont typeface="Arial"/>
              <a:buChar char="•"/>
              <a:tabLst>
                <a:tab pos="292100" algn="l"/>
              </a:tabLst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</a:t>
            </a:r>
            <a:r>
              <a:rPr spc="159"/>
              <a:t> </a:t>
            </a:r>
            <a:r>
              <a:t>can</a:t>
            </a:r>
            <a:r>
              <a:rPr spc="200"/>
              <a:t> </a:t>
            </a:r>
            <a:r>
              <a:t>be</a:t>
            </a:r>
            <a:r>
              <a:rPr spc="170"/>
              <a:t> </a:t>
            </a:r>
            <a:r>
              <a:t>integrated</a:t>
            </a:r>
            <a:r>
              <a:rPr spc="185"/>
              <a:t> </a:t>
            </a:r>
            <a:r>
              <a:t>with</a:t>
            </a:r>
            <a:r>
              <a:rPr spc="150"/>
              <a:t> </a:t>
            </a:r>
            <a:r>
              <a:rPr spc="-9"/>
              <a:t>real-</a:t>
            </a:r>
            <a:r>
              <a:t>time</a:t>
            </a:r>
            <a:r>
              <a:rPr spc="170"/>
              <a:t> </a:t>
            </a:r>
            <a:r>
              <a:t>hardware</a:t>
            </a:r>
            <a:r>
              <a:rPr spc="159"/>
              <a:t> </a:t>
            </a:r>
            <a:r>
              <a:rPr spc="-9"/>
              <a:t>sensors </a:t>
            </a:r>
            <a:r>
              <a:t>like LiDAR</a:t>
            </a:r>
            <a:r>
              <a:rPr spc="-9"/>
              <a:t> </a:t>
            </a:r>
            <a:r>
              <a:t>and</a:t>
            </a:r>
            <a:r>
              <a:rPr spc="-39"/>
              <a:t> </a:t>
            </a:r>
            <a:r>
              <a:t>radar</a:t>
            </a:r>
            <a:r>
              <a:rPr spc="9"/>
              <a:t> </a:t>
            </a:r>
            <a:r>
              <a:t>for</a:t>
            </a:r>
            <a:r>
              <a:rPr spc="-19"/>
              <a:t> </a:t>
            </a:r>
            <a:r>
              <a:t>more</a:t>
            </a:r>
            <a:r>
              <a:rPr spc="-35"/>
              <a:t> </a:t>
            </a:r>
            <a:r>
              <a:t>reliable</a:t>
            </a:r>
            <a:r>
              <a:rPr spc="19"/>
              <a:t> </a:t>
            </a:r>
            <a:r>
              <a:rPr spc="-9"/>
              <a:t>detection.</a:t>
            </a:r>
          </a:p>
          <a:p>
            <a:pPr marL="298450" marR="11429" indent="-286384">
              <a:lnSpc>
                <a:spcPct val="149500"/>
              </a:lnSpc>
              <a:buSzPct val="100000"/>
              <a:buFont typeface="Arial"/>
              <a:buChar char="•"/>
              <a:tabLst>
                <a:tab pos="292100" algn="l"/>
              </a:tabLst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</a:t>
            </a:r>
            <a:r>
              <a:rPr spc="70"/>
              <a:t> </a:t>
            </a:r>
            <a:r>
              <a:t>system</a:t>
            </a:r>
            <a:r>
              <a:rPr spc="110"/>
              <a:t> </a:t>
            </a:r>
            <a:r>
              <a:t>can</a:t>
            </a:r>
            <a:r>
              <a:rPr spc="140"/>
              <a:t> </a:t>
            </a:r>
            <a:r>
              <a:t>be</a:t>
            </a:r>
            <a:r>
              <a:rPr spc="104"/>
              <a:t> </a:t>
            </a:r>
            <a:r>
              <a:t>enhanced</a:t>
            </a:r>
            <a:r>
              <a:rPr spc="90"/>
              <a:t> </a:t>
            </a:r>
            <a:r>
              <a:t>to</a:t>
            </a:r>
            <a:r>
              <a:rPr spc="79"/>
              <a:t> </a:t>
            </a:r>
            <a:r>
              <a:t>work</a:t>
            </a:r>
            <a:r>
              <a:rPr spc="130"/>
              <a:t> </a:t>
            </a:r>
            <a:r>
              <a:t>better</a:t>
            </a:r>
            <a:r>
              <a:rPr spc="85"/>
              <a:t> </a:t>
            </a:r>
            <a:r>
              <a:t>in</a:t>
            </a:r>
            <a:r>
              <a:rPr spc="85"/>
              <a:t> </a:t>
            </a:r>
            <a:r>
              <a:rPr spc="-9"/>
              <a:t>night, </a:t>
            </a:r>
            <a:r>
              <a:t>rain,</a:t>
            </a:r>
            <a:r>
              <a:rPr spc="15"/>
              <a:t> </a:t>
            </a:r>
            <a:r>
              <a:t>and</a:t>
            </a:r>
            <a:r>
              <a:rPr spc="-25"/>
              <a:t> </a:t>
            </a:r>
            <a:r>
              <a:t>fog</a:t>
            </a:r>
            <a:r>
              <a:rPr spc="-4"/>
              <a:t> </a:t>
            </a:r>
            <a:r>
              <a:rPr spc="-9"/>
              <a:t>conditions.</a:t>
            </a:r>
          </a:p>
          <a:p>
            <a:pPr marL="298450" marR="11429" indent="-286384">
              <a:lnSpc>
                <a:spcPct val="149500"/>
              </a:lnSpc>
              <a:buSzPct val="100000"/>
              <a:buFont typeface="Arial"/>
              <a:buChar char="•"/>
              <a:tabLst>
                <a:tab pos="292100" algn="l"/>
              </a:tabLst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Future</a:t>
            </a:r>
            <a:r>
              <a:rPr spc="104"/>
              <a:t> </a:t>
            </a:r>
            <a:r>
              <a:t>versions</a:t>
            </a:r>
            <a:r>
              <a:rPr spc="90"/>
              <a:t> </a:t>
            </a:r>
            <a:r>
              <a:t>can</a:t>
            </a:r>
            <a:r>
              <a:rPr spc="145"/>
              <a:t> </a:t>
            </a:r>
            <a:r>
              <a:t>support</a:t>
            </a:r>
            <a:r>
              <a:rPr spc="140"/>
              <a:t> </a:t>
            </a:r>
            <a:r>
              <a:t>full</a:t>
            </a:r>
            <a:r>
              <a:rPr spc="100"/>
              <a:t> </a:t>
            </a:r>
            <a:r>
              <a:t>autonomous</a:t>
            </a:r>
            <a:r>
              <a:rPr spc="125"/>
              <a:t> </a:t>
            </a:r>
            <a:r>
              <a:rPr spc="-9"/>
              <a:t>driving </a:t>
            </a:r>
            <a:r>
              <a:t>without</a:t>
            </a:r>
            <a:r>
              <a:rPr spc="-35"/>
              <a:t> </a:t>
            </a:r>
            <a:r>
              <a:t>human</a:t>
            </a:r>
            <a:r>
              <a:rPr spc="15"/>
              <a:t> </a:t>
            </a:r>
            <a:r>
              <a:rPr spc="-9"/>
              <a:t>intervention.</a:t>
            </a:r>
          </a:p>
          <a:p>
            <a:pPr marL="298450" marR="5080" indent="-286384">
              <a:lnSpc>
                <a:spcPts val="3200"/>
              </a:lnSpc>
              <a:buSzPct val="100000"/>
              <a:buFont typeface="Arial"/>
              <a:buChar char="•"/>
              <a:tabLst>
                <a:tab pos="292100" algn="l"/>
              </a:tabLst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</a:t>
            </a:r>
            <a:r>
              <a:rPr spc="-35"/>
              <a:t> </a:t>
            </a:r>
            <a:r>
              <a:t>vehicle</a:t>
            </a:r>
            <a:r>
              <a:rPr spc="-15"/>
              <a:t> </a:t>
            </a:r>
            <a:r>
              <a:t>can</a:t>
            </a:r>
            <a:r>
              <a:rPr spc="25"/>
              <a:t> </a:t>
            </a:r>
            <a:r>
              <a:t>communicate</a:t>
            </a:r>
            <a:r>
              <a:rPr spc="-15"/>
              <a:t> </a:t>
            </a:r>
            <a:r>
              <a:t>with</a:t>
            </a:r>
            <a:r>
              <a:rPr spc="-19"/>
              <a:t> </a:t>
            </a:r>
            <a:r>
              <a:t>traffic</a:t>
            </a:r>
            <a:r>
              <a:rPr spc="-25"/>
              <a:t> </a:t>
            </a:r>
            <a:r>
              <a:t>signals</a:t>
            </a:r>
            <a:r>
              <a:rPr spc="35"/>
              <a:t> </a:t>
            </a:r>
            <a:r>
              <a:rPr spc="-25"/>
              <a:t>and </a:t>
            </a:r>
            <a:r>
              <a:t>other vehicles</a:t>
            </a:r>
            <a:r>
              <a:rPr spc="19"/>
              <a:t> </a:t>
            </a:r>
            <a:r>
              <a:t>for</a:t>
            </a:r>
            <a:r>
              <a:rPr spc="-9"/>
              <a:t> </a:t>
            </a:r>
            <a:r>
              <a:t>smarter</a:t>
            </a:r>
            <a:r>
              <a:rPr spc="-4"/>
              <a:t> </a:t>
            </a:r>
            <a:r>
              <a:t>and</a:t>
            </a:r>
            <a:r>
              <a:rPr spc="-39"/>
              <a:t> </a:t>
            </a:r>
            <a:r>
              <a:t>safer</a:t>
            </a:r>
            <a:r>
              <a:rPr spc="-35"/>
              <a:t> </a:t>
            </a:r>
            <a:r>
              <a:rPr spc="-9"/>
              <a:t>navigation.</a:t>
            </a:r>
          </a:p>
        </p:txBody>
      </p:sp>
      <p:pic>
        <p:nvPicPr>
          <p:cNvPr id="184" name="object 4" descr="object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00" y="1475351"/>
            <a:ext cx="4914900" cy="500062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object 2"/>
          <p:cNvSpPr txBox="1">
            <a:spLocks noGrp="1"/>
          </p:cNvSpPr>
          <p:nvPr>
            <p:ph type="title"/>
          </p:nvPr>
        </p:nvSpPr>
        <p:spPr>
          <a:xfrm>
            <a:off x="1884044" y="-55880"/>
            <a:ext cx="8244842" cy="1647826"/>
          </a:xfrm>
          <a:prstGeom prst="rect">
            <a:avLst/>
          </a:prstGeom>
        </p:spPr>
        <p:txBody>
          <a:bodyPr/>
          <a:lstStyle>
            <a:lvl1pPr indent="2724150">
              <a:spcBef>
                <a:spcPts val="100"/>
              </a:spcBef>
              <a:defRPr spc="-100"/>
            </a:lvl1pPr>
          </a:lstStyle>
          <a:p>
            <a:r>
              <a:t>CONCLUSION</a:t>
            </a:r>
          </a:p>
        </p:txBody>
      </p:sp>
      <p:pic>
        <p:nvPicPr>
          <p:cNvPr id="187" name="object 3" descr="object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" y="190500"/>
            <a:ext cx="1101990" cy="1343025"/>
          </a:xfrm>
          <a:prstGeom prst="rect">
            <a:avLst/>
          </a:prstGeom>
          <a:ln w="12700">
            <a:miter lim="400000"/>
          </a:ln>
        </p:spPr>
      </p:pic>
      <p:pic>
        <p:nvPicPr>
          <p:cNvPr id="188" name="object 4" descr="object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90500"/>
            <a:ext cx="1514475" cy="1343025"/>
          </a:xfrm>
          <a:prstGeom prst="rect">
            <a:avLst/>
          </a:prstGeom>
          <a:ln w="12700">
            <a:miter lim="400000"/>
          </a:ln>
        </p:spPr>
      </p:pic>
      <p:sp>
        <p:nvSpPr>
          <p:cNvPr id="189" name="object 5"/>
          <p:cNvSpPr txBox="1"/>
          <p:nvPr/>
        </p:nvSpPr>
        <p:spPr>
          <a:xfrm>
            <a:off x="1106169" y="1857564"/>
            <a:ext cx="10175876" cy="4249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98450" marR="12064" indent="-286384">
              <a:lnSpc>
                <a:spcPct val="153100"/>
              </a:lnSpc>
              <a:buSzPct val="100000"/>
              <a:buChar char="▪"/>
              <a:tabLst>
                <a:tab pos="292100" algn="l"/>
              </a:tabLst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</a:t>
            </a:r>
            <a:r>
              <a:rPr spc="254"/>
              <a:t> </a:t>
            </a:r>
            <a:r>
              <a:t>system</a:t>
            </a:r>
            <a:r>
              <a:rPr spc="280"/>
              <a:t> </a:t>
            </a:r>
            <a:r>
              <a:t>successfully</a:t>
            </a:r>
            <a:r>
              <a:rPr spc="315"/>
              <a:t> </a:t>
            </a:r>
            <a:r>
              <a:t>detects</a:t>
            </a:r>
            <a:r>
              <a:rPr spc="305"/>
              <a:t> </a:t>
            </a:r>
            <a:r>
              <a:t>and</a:t>
            </a:r>
            <a:r>
              <a:rPr spc="250"/>
              <a:t> </a:t>
            </a:r>
            <a:r>
              <a:t>recognizes</a:t>
            </a:r>
            <a:r>
              <a:rPr spc="310"/>
              <a:t> </a:t>
            </a:r>
            <a:r>
              <a:t>road</a:t>
            </a:r>
            <a:r>
              <a:rPr spc="250"/>
              <a:t> </a:t>
            </a:r>
            <a:r>
              <a:t>signs</a:t>
            </a:r>
            <a:r>
              <a:rPr spc="280"/>
              <a:t> </a:t>
            </a:r>
            <a:r>
              <a:t>in</a:t>
            </a:r>
            <a:r>
              <a:rPr spc="250"/>
              <a:t> </a:t>
            </a:r>
            <a:r>
              <a:t>real</a:t>
            </a:r>
            <a:r>
              <a:rPr spc="305"/>
              <a:t> </a:t>
            </a:r>
            <a:r>
              <a:t>time,</a:t>
            </a:r>
            <a:r>
              <a:rPr spc="254"/>
              <a:t> </a:t>
            </a:r>
            <a:r>
              <a:t>helping</a:t>
            </a:r>
            <a:r>
              <a:rPr spc="270"/>
              <a:t> </a:t>
            </a:r>
            <a:r>
              <a:t>the</a:t>
            </a:r>
            <a:r>
              <a:rPr spc="254"/>
              <a:t> </a:t>
            </a:r>
            <a:r>
              <a:t>vehicle</a:t>
            </a:r>
            <a:r>
              <a:rPr spc="265"/>
              <a:t> </a:t>
            </a:r>
            <a:r>
              <a:rPr spc="-9"/>
              <a:t>understand </a:t>
            </a:r>
            <a:r>
              <a:t>driving</a:t>
            </a:r>
            <a:r>
              <a:rPr spc="-4"/>
              <a:t> </a:t>
            </a:r>
            <a:r>
              <a:rPr spc="-9"/>
              <a:t>rules.</a:t>
            </a:r>
          </a:p>
          <a:p>
            <a:pPr marL="298450" marR="5080" indent="-286384">
              <a:lnSpc>
                <a:spcPts val="3200"/>
              </a:lnSpc>
              <a:spcBef>
                <a:spcPts val="200"/>
              </a:spcBef>
              <a:buSzPct val="100000"/>
              <a:buChar char="▪"/>
              <a:tabLst>
                <a:tab pos="292100" algn="l"/>
                <a:tab pos="1612900" algn="l"/>
                <a:tab pos="2527300" algn="l"/>
                <a:tab pos="3416300" algn="l"/>
                <a:tab pos="4216400" algn="l"/>
                <a:tab pos="4889500" algn="l"/>
                <a:tab pos="5257800" algn="l"/>
                <a:tab pos="6273800" algn="l"/>
                <a:tab pos="7175500" algn="l"/>
                <a:tab pos="8521700" algn="l"/>
                <a:tab pos="8851900" algn="l"/>
                <a:tab pos="9817100" algn="l"/>
              </a:tabLst>
              <a:defRPr sz="2000" spc="-25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Vision-</a:t>
            </a:r>
            <a:r>
              <a:rPr spc="-19"/>
              <a:t>based</a:t>
            </a:r>
            <a:r>
              <a:rPr spc="0"/>
              <a:t>	</a:t>
            </a:r>
            <a:r>
              <a:rPr spc="-9"/>
              <a:t>methods</a:t>
            </a:r>
            <a:r>
              <a:rPr spc="0"/>
              <a:t>	</a:t>
            </a:r>
            <a:r>
              <a:rPr spc="-9"/>
              <a:t>improve</a:t>
            </a:r>
            <a:r>
              <a:rPr spc="0"/>
              <a:t>	</a:t>
            </a:r>
            <a:r>
              <a:rPr spc="-9"/>
              <a:t>driving</a:t>
            </a:r>
            <a:r>
              <a:rPr spc="0"/>
              <a:t>	</a:t>
            </a:r>
            <a:r>
              <a:rPr spc="-9"/>
              <a:t>safety</a:t>
            </a:r>
            <a:r>
              <a:rPr spc="0"/>
              <a:t>	</a:t>
            </a:r>
            <a:r>
              <a:t>by</a:t>
            </a:r>
            <a:r>
              <a:rPr spc="0"/>
              <a:t>	</a:t>
            </a:r>
            <a:r>
              <a:rPr spc="-9"/>
              <a:t>providing</a:t>
            </a:r>
            <a:r>
              <a:rPr spc="0"/>
              <a:t>	</a:t>
            </a:r>
            <a:r>
              <a:rPr spc="-9"/>
              <a:t>accurate</a:t>
            </a:r>
            <a:r>
              <a:rPr spc="0"/>
              <a:t>	</a:t>
            </a:r>
            <a:r>
              <a:rPr spc="-9"/>
              <a:t>identification</a:t>
            </a:r>
            <a:r>
              <a:rPr spc="0"/>
              <a:t>	</a:t>
            </a:r>
            <a:r>
              <a:t>of</a:t>
            </a:r>
            <a:r>
              <a:rPr spc="0"/>
              <a:t>	</a:t>
            </a:r>
            <a:r>
              <a:rPr spc="-9"/>
              <a:t>obstacles</a:t>
            </a:r>
            <a:r>
              <a:rPr spc="0"/>
              <a:t>	</a:t>
            </a:r>
            <a:r>
              <a:t>and </a:t>
            </a:r>
            <a:r>
              <a:rPr spc="0"/>
              <a:t>potential</a:t>
            </a:r>
            <a:r>
              <a:rPr spc="-19"/>
              <a:t> </a:t>
            </a:r>
            <a:r>
              <a:rPr spc="-9"/>
              <a:t>hazards.</a:t>
            </a:r>
          </a:p>
          <a:p>
            <a:pPr marL="298450" indent="-285750">
              <a:spcBef>
                <a:spcPts val="700"/>
              </a:spcBef>
              <a:buSzPct val="100000"/>
              <a:buChar char="▪"/>
              <a:tabLst>
                <a:tab pos="292100" algn="l"/>
              </a:tabLst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Using</a:t>
            </a:r>
            <a:r>
              <a:rPr spc="70"/>
              <a:t> </a:t>
            </a:r>
            <a:r>
              <a:rPr spc="-9"/>
              <a:t>deep-</a:t>
            </a:r>
            <a:r>
              <a:t>learning</a:t>
            </a:r>
            <a:r>
              <a:rPr spc="25"/>
              <a:t> </a:t>
            </a:r>
            <a:r>
              <a:t>models</a:t>
            </a:r>
            <a:r>
              <a:rPr spc="35"/>
              <a:t> </a:t>
            </a:r>
            <a:r>
              <a:t>like</a:t>
            </a:r>
            <a:r>
              <a:rPr spc="75"/>
              <a:t> </a:t>
            </a:r>
            <a:r>
              <a:t>YOLO</a:t>
            </a:r>
            <a:r>
              <a:rPr spc="65"/>
              <a:t> </a:t>
            </a:r>
            <a:r>
              <a:t>and</a:t>
            </a:r>
            <a:r>
              <a:rPr spc="19"/>
              <a:t> </a:t>
            </a:r>
            <a:r>
              <a:t>MobileNet,</a:t>
            </a:r>
            <a:r>
              <a:rPr spc="39"/>
              <a:t> </a:t>
            </a:r>
            <a:r>
              <a:t>the</a:t>
            </a:r>
            <a:r>
              <a:rPr spc="15"/>
              <a:t> </a:t>
            </a:r>
            <a:r>
              <a:t>system</a:t>
            </a:r>
            <a:r>
              <a:rPr spc="39"/>
              <a:t> </a:t>
            </a:r>
            <a:r>
              <a:t>achieves</a:t>
            </a:r>
            <a:r>
              <a:rPr spc="65"/>
              <a:t> </a:t>
            </a:r>
            <a:r>
              <a:t>fast</a:t>
            </a:r>
            <a:r>
              <a:rPr spc="45"/>
              <a:t> </a:t>
            </a:r>
            <a:r>
              <a:t>and</a:t>
            </a:r>
            <a:r>
              <a:rPr spc="19"/>
              <a:t> </a:t>
            </a:r>
            <a:r>
              <a:t>reliable</a:t>
            </a:r>
            <a:r>
              <a:rPr spc="79"/>
              <a:t> </a:t>
            </a:r>
            <a:r>
              <a:rPr spc="-9"/>
              <a:t>performance</a:t>
            </a:r>
          </a:p>
          <a:p>
            <a:pPr indent="298450">
              <a:spcBef>
                <a:spcPts val="1000"/>
              </a:spcBef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even</a:t>
            </a:r>
            <a:r>
              <a:rPr spc="9"/>
              <a:t> </a:t>
            </a:r>
            <a:r>
              <a:t>in</a:t>
            </a:r>
            <a:r>
              <a:rPr spc="-30"/>
              <a:t> </a:t>
            </a:r>
            <a:r>
              <a:t>dynamic</a:t>
            </a:r>
            <a:r>
              <a:rPr spc="-4"/>
              <a:t> </a:t>
            </a:r>
            <a:r>
              <a:rPr spc="-9"/>
              <a:t>environments.</a:t>
            </a:r>
          </a:p>
          <a:p>
            <a:pPr marL="298450" indent="-285750">
              <a:spcBef>
                <a:spcPts val="1100"/>
              </a:spcBef>
              <a:buSzPct val="100000"/>
              <a:buChar char="▪"/>
              <a:tabLst>
                <a:tab pos="292100" algn="l"/>
              </a:tabLst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Obstacle</a:t>
            </a:r>
            <a:r>
              <a:rPr spc="9"/>
              <a:t> </a:t>
            </a:r>
            <a:r>
              <a:t>detection</a:t>
            </a:r>
            <a:r>
              <a:rPr spc="-4"/>
              <a:t> </a:t>
            </a:r>
            <a:r>
              <a:t>supports</a:t>
            </a:r>
            <a:r>
              <a:rPr spc="-4"/>
              <a:t> </a:t>
            </a:r>
            <a:r>
              <a:t>safer</a:t>
            </a:r>
            <a:r>
              <a:rPr spc="-35"/>
              <a:t> </a:t>
            </a:r>
            <a:r>
              <a:t>navigation</a:t>
            </a:r>
            <a:r>
              <a:rPr spc="9"/>
              <a:t> </a:t>
            </a:r>
            <a:r>
              <a:t>by</a:t>
            </a:r>
            <a:r>
              <a:rPr spc="-15"/>
              <a:t> </a:t>
            </a:r>
            <a:r>
              <a:t>alerting</a:t>
            </a:r>
            <a:r>
              <a:rPr spc="4"/>
              <a:t> </a:t>
            </a:r>
            <a:r>
              <a:t>or</a:t>
            </a:r>
            <a:r>
              <a:rPr spc="-15"/>
              <a:t> </a:t>
            </a:r>
            <a:r>
              <a:t>assisting</a:t>
            </a:r>
            <a:r>
              <a:rPr spc="-25"/>
              <a:t> </a:t>
            </a:r>
            <a:r>
              <a:t>the</a:t>
            </a:r>
            <a:r>
              <a:rPr spc="-35"/>
              <a:t> </a:t>
            </a:r>
            <a:r>
              <a:t>vehicle</a:t>
            </a:r>
            <a:r>
              <a:rPr spc="-30"/>
              <a:t> </a:t>
            </a:r>
            <a:r>
              <a:t>in</a:t>
            </a:r>
            <a:r>
              <a:rPr spc="-39"/>
              <a:t> </a:t>
            </a:r>
            <a:r>
              <a:t>avoiding</a:t>
            </a:r>
            <a:r>
              <a:rPr spc="-4"/>
              <a:t> </a:t>
            </a:r>
            <a:r>
              <a:rPr spc="-9"/>
              <a:t>collisions.</a:t>
            </a:r>
          </a:p>
          <a:p>
            <a:pPr marL="298450" marR="5714" indent="-286384">
              <a:lnSpc>
                <a:spcPct val="149400"/>
              </a:lnSpc>
              <a:buSzPct val="100000"/>
              <a:buChar char="▪"/>
              <a:tabLst>
                <a:tab pos="292100" algn="l"/>
              </a:tabLst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Overall,</a:t>
            </a:r>
            <a:r>
              <a:rPr spc="220"/>
              <a:t> </a:t>
            </a:r>
            <a:r>
              <a:t>the</a:t>
            </a:r>
            <a:r>
              <a:rPr spc="200"/>
              <a:t> </a:t>
            </a:r>
            <a:r>
              <a:t>combined</a:t>
            </a:r>
            <a:r>
              <a:rPr spc="195"/>
              <a:t> </a:t>
            </a:r>
            <a:r>
              <a:t>road</a:t>
            </a:r>
            <a:r>
              <a:rPr spc="190"/>
              <a:t> </a:t>
            </a:r>
            <a:r>
              <a:t>sign</a:t>
            </a:r>
            <a:r>
              <a:rPr spc="220"/>
              <a:t> </a:t>
            </a:r>
            <a:r>
              <a:t>recognition</a:t>
            </a:r>
            <a:r>
              <a:rPr spc="225"/>
              <a:t> </a:t>
            </a:r>
            <a:r>
              <a:t>and</a:t>
            </a:r>
            <a:r>
              <a:rPr spc="195"/>
              <a:t> </a:t>
            </a:r>
            <a:r>
              <a:t>obstacle</a:t>
            </a:r>
            <a:r>
              <a:rPr spc="225"/>
              <a:t> </a:t>
            </a:r>
            <a:r>
              <a:t>detection</a:t>
            </a:r>
            <a:r>
              <a:rPr spc="225"/>
              <a:t> </a:t>
            </a:r>
            <a:r>
              <a:t>system</a:t>
            </a:r>
            <a:r>
              <a:rPr spc="209"/>
              <a:t> </a:t>
            </a:r>
            <a:r>
              <a:t>contributes</a:t>
            </a:r>
            <a:r>
              <a:rPr spc="245"/>
              <a:t> </a:t>
            </a:r>
            <a:r>
              <a:t>to</a:t>
            </a:r>
            <a:r>
              <a:rPr spc="195"/>
              <a:t> </a:t>
            </a:r>
            <a:r>
              <a:t>smarter,</a:t>
            </a:r>
            <a:r>
              <a:rPr spc="225"/>
              <a:t> </a:t>
            </a:r>
            <a:r>
              <a:rPr spc="-9"/>
              <a:t>safer, </a:t>
            </a:r>
            <a:r>
              <a:t>and</a:t>
            </a:r>
            <a:r>
              <a:rPr spc="-25"/>
              <a:t> </a:t>
            </a:r>
            <a:r>
              <a:t>more</a:t>
            </a:r>
            <a:r>
              <a:rPr spc="-19"/>
              <a:t> </a:t>
            </a:r>
            <a:r>
              <a:t>autonomous</a:t>
            </a:r>
            <a:r>
              <a:rPr spc="9"/>
              <a:t> </a:t>
            </a:r>
            <a:r>
              <a:rPr spc="-9"/>
              <a:t>driving.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object 2" descr="object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" y="190500"/>
            <a:ext cx="1101990" cy="1343025"/>
          </a:xfrm>
          <a:prstGeom prst="rect">
            <a:avLst/>
          </a:prstGeom>
          <a:ln w="12700">
            <a:miter lim="400000"/>
          </a:ln>
        </p:spPr>
      </p:pic>
      <p:pic>
        <p:nvPicPr>
          <p:cNvPr id="192" name="object 3" descr="objec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90500"/>
            <a:ext cx="1514475" cy="1343025"/>
          </a:xfrm>
          <a:prstGeom prst="rect">
            <a:avLst/>
          </a:prstGeom>
          <a:ln w="12700">
            <a:miter lim="400000"/>
          </a:ln>
        </p:spPr>
      </p:pic>
      <p:sp>
        <p:nvSpPr>
          <p:cNvPr id="193" name="object 4"/>
          <p:cNvSpPr txBox="1">
            <a:spLocks noGrp="1"/>
          </p:cNvSpPr>
          <p:nvPr>
            <p:ph type="title"/>
          </p:nvPr>
        </p:nvSpPr>
        <p:spPr>
          <a:xfrm>
            <a:off x="1884044" y="-55880"/>
            <a:ext cx="8244842" cy="1647826"/>
          </a:xfrm>
          <a:prstGeom prst="rect">
            <a:avLst/>
          </a:prstGeom>
        </p:spPr>
        <p:txBody>
          <a:bodyPr/>
          <a:lstStyle>
            <a:lvl1pPr indent="2853689">
              <a:spcBef>
                <a:spcPts val="100"/>
              </a:spcBef>
              <a:defRPr spc="-100"/>
            </a:lvl1pPr>
          </a:lstStyle>
          <a:p>
            <a:r>
              <a:t>REFERENCES</a:t>
            </a:r>
          </a:p>
        </p:txBody>
      </p:sp>
      <p:sp>
        <p:nvSpPr>
          <p:cNvPr id="194" name="object 5"/>
          <p:cNvSpPr txBox="1"/>
          <p:nvPr/>
        </p:nvSpPr>
        <p:spPr>
          <a:xfrm>
            <a:off x="1084393" y="1604009"/>
            <a:ext cx="10917108" cy="45738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55600" marR="2389504" indent="-343534">
              <a:lnSpc>
                <a:spcPct val="153000"/>
              </a:lnSpc>
              <a:buSzPct val="100000"/>
              <a:buAutoNum type="arabicPeriod"/>
              <a:tabLst>
                <a:tab pos="355600" algn="l"/>
              </a:tabLst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Redmon,</a:t>
            </a:r>
            <a:r>
              <a:rPr spc="-39"/>
              <a:t> </a:t>
            </a:r>
            <a:r>
              <a:t>J.,</a:t>
            </a:r>
            <a:r>
              <a:rPr spc="-19"/>
              <a:t> </a:t>
            </a:r>
            <a:r>
              <a:t>&amp;</a:t>
            </a:r>
            <a:r>
              <a:rPr spc="-75"/>
              <a:t> </a:t>
            </a:r>
            <a:r>
              <a:t>Farhadi,</a:t>
            </a:r>
            <a:r>
              <a:rPr spc="-155"/>
              <a:t> </a:t>
            </a:r>
            <a:r>
              <a:t>A.</a:t>
            </a:r>
            <a:r>
              <a:rPr spc="-25"/>
              <a:t> </a:t>
            </a:r>
            <a:r>
              <a:t>"YOLO: Real-Time</a:t>
            </a:r>
            <a:r>
              <a:rPr spc="-4"/>
              <a:t> </a:t>
            </a:r>
            <a:r>
              <a:t>Object Detection."</a:t>
            </a:r>
            <a:r>
              <a:rPr spc="-19"/>
              <a:t> </a:t>
            </a:r>
            <a:r>
              <a:rPr spc="-9"/>
              <a:t>arXiv:1506.02640. </a:t>
            </a:r>
            <a:r>
              <a:t>This</a:t>
            </a:r>
            <a:r>
              <a:rPr spc="19"/>
              <a:t> </a:t>
            </a:r>
            <a:r>
              <a:t>work</a:t>
            </a:r>
            <a:r>
              <a:rPr spc="-15"/>
              <a:t> </a:t>
            </a:r>
            <a:r>
              <a:t>introduced</a:t>
            </a:r>
            <a:r>
              <a:rPr spc="-90"/>
              <a:t> </a:t>
            </a:r>
            <a:r>
              <a:t>YOLO,</a:t>
            </a:r>
            <a:r>
              <a:rPr spc="-15"/>
              <a:t> </a:t>
            </a:r>
            <a:r>
              <a:t>a</a:t>
            </a:r>
            <a:r>
              <a:rPr spc="9"/>
              <a:t> </a:t>
            </a:r>
            <a:r>
              <a:t>very</a:t>
            </a:r>
            <a:r>
              <a:rPr spc="-15"/>
              <a:t> </a:t>
            </a:r>
            <a:r>
              <a:t>fast</a:t>
            </a:r>
            <a:r>
              <a:rPr spc="-60"/>
              <a:t> </a:t>
            </a:r>
            <a:r>
              <a:t>object</a:t>
            </a:r>
            <a:r>
              <a:rPr spc="4"/>
              <a:t> </a:t>
            </a:r>
            <a:r>
              <a:t>detection</a:t>
            </a:r>
            <a:r>
              <a:rPr spc="-15"/>
              <a:t> </a:t>
            </a:r>
            <a:r>
              <a:t>method</a:t>
            </a:r>
            <a:r>
              <a:rPr spc="-9"/>
              <a:t> </a:t>
            </a:r>
            <a:r>
              <a:t>for</a:t>
            </a:r>
            <a:r>
              <a:rPr spc="-15"/>
              <a:t> </a:t>
            </a:r>
            <a:r>
              <a:t>real-time</a:t>
            </a:r>
            <a:r>
              <a:rPr spc="9"/>
              <a:t> </a:t>
            </a:r>
            <a:r>
              <a:rPr spc="-19"/>
              <a:t>use.</a:t>
            </a:r>
          </a:p>
          <a:p>
            <a:pPr marL="355600" indent="-342900">
              <a:spcBef>
                <a:spcPts val="1000"/>
              </a:spcBef>
              <a:buSzPct val="100000"/>
              <a:buAutoNum type="arabicPeriod"/>
              <a:tabLst>
                <a:tab pos="355600" algn="l"/>
              </a:tabLst>
              <a:defRPr sz="2000" spc="-9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Sandler,</a:t>
            </a:r>
            <a:r>
              <a:rPr spc="-35"/>
              <a:t> </a:t>
            </a:r>
            <a:r>
              <a:rPr spc="0"/>
              <a:t>M.</a:t>
            </a:r>
            <a:r>
              <a:rPr spc="-15"/>
              <a:t> </a:t>
            </a:r>
            <a:r>
              <a:rPr spc="0"/>
              <a:t>et al.</a:t>
            </a:r>
            <a:r>
              <a:rPr spc="-15"/>
              <a:t> </a:t>
            </a:r>
            <a:r>
              <a:rPr spc="0"/>
              <a:t>"MobileNetV3:</a:t>
            </a:r>
            <a:r>
              <a:rPr spc="-75"/>
              <a:t> </a:t>
            </a:r>
            <a:r>
              <a:rPr spc="0"/>
              <a:t>Searching</a:t>
            </a:r>
            <a:r>
              <a:rPr spc="-15"/>
              <a:t> </a:t>
            </a:r>
            <a:r>
              <a:rPr spc="0"/>
              <a:t>for</a:t>
            </a:r>
            <a:r>
              <a:rPr spc="-25"/>
              <a:t> </a:t>
            </a:r>
            <a:r>
              <a:rPr spc="0"/>
              <a:t>Mobile</a:t>
            </a:r>
            <a:r>
              <a:rPr spc="-130"/>
              <a:t> </a:t>
            </a:r>
            <a:r>
              <a:rPr spc="0"/>
              <a:t>Architecture."</a:t>
            </a:r>
            <a:r>
              <a:rPr spc="-4"/>
              <a:t> </a:t>
            </a:r>
            <a:r>
              <a:t>arXiv:1905.02244.</a:t>
            </a:r>
          </a:p>
          <a:p>
            <a:pPr indent="355600">
              <a:spcBef>
                <a:spcPts val="1000"/>
              </a:spcBef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This</a:t>
            </a:r>
            <a:r>
              <a:rPr spc="4"/>
              <a:t> </a:t>
            </a:r>
            <a:r>
              <a:t>paper</a:t>
            </a:r>
            <a:r>
              <a:rPr spc="-39"/>
              <a:t> </a:t>
            </a:r>
            <a:r>
              <a:t>presents</a:t>
            </a:r>
            <a:r>
              <a:rPr spc="9"/>
              <a:t> </a:t>
            </a:r>
            <a:r>
              <a:t>MobileNetV3,</a:t>
            </a:r>
            <a:r>
              <a:rPr spc="-39"/>
              <a:t> </a:t>
            </a:r>
            <a:r>
              <a:t>a</a:t>
            </a:r>
            <a:r>
              <a:rPr spc="-15"/>
              <a:t> </a:t>
            </a:r>
            <a:r>
              <a:t>lightweight</a:t>
            </a:r>
            <a:r>
              <a:rPr spc="-19"/>
              <a:t> </a:t>
            </a:r>
            <a:r>
              <a:t>model</a:t>
            </a:r>
            <a:r>
              <a:rPr spc="-15"/>
              <a:t> </a:t>
            </a:r>
            <a:r>
              <a:t>designed</a:t>
            </a:r>
            <a:r>
              <a:rPr spc="-35"/>
              <a:t> </a:t>
            </a:r>
            <a:r>
              <a:t>for</a:t>
            </a:r>
            <a:r>
              <a:rPr spc="-35"/>
              <a:t> </a:t>
            </a:r>
            <a:r>
              <a:t>efficient</a:t>
            </a:r>
            <a:r>
              <a:rPr spc="-19"/>
              <a:t> </a:t>
            </a:r>
            <a:r>
              <a:t>mobile</a:t>
            </a:r>
            <a:r>
              <a:rPr spc="-15"/>
              <a:t> </a:t>
            </a:r>
            <a:r>
              <a:rPr spc="-9"/>
              <a:t>performance.</a:t>
            </a:r>
          </a:p>
          <a:p>
            <a:pPr marL="355600" marR="1439544" indent="-343534">
              <a:lnSpc>
                <a:spcPts val="3200"/>
              </a:lnSpc>
              <a:buSzPct val="100000"/>
              <a:buAutoNum type="arabicPeriod" startAt="3"/>
              <a:tabLst>
                <a:tab pos="355600" algn="l"/>
              </a:tabLst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Dalal,</a:t>
            </a:r>
            <a:r>
              <a:rPr spc="-19"/>
              <a:t> </a:t>
            </a:r>
            <a:r>
              <a:t>N.,</a:t>
            </a:r>
            <a:r>
              <a:rPr spc="-15"/>
              <a:t> </a:t>
            </a:r>
            <a:r>
              <a:t>&amp; </a:t>
            </a:r>
            <a:r>
              <a:rPr spc="-9"/>
              <a:t>Triggs,</a:t>
            </a:r>
            <a:r>
              <a:rPr spc="-15"/>
              <a:t> </a:t>
            </a:r>
            <a:r>
              <a:t>B.</a:t>
            </a:r>
            <a:r>
              <a:rPr spc="-19"/>
              <a:t> </a:t>
            </a:r>
            <a:r>
              <a:t>"Histograms</a:t>
            </a:r>
            <a:r>
              <a:rPr spc="-45"/>
              <a:t> </a:t>
            </a:r>
            <a:r>
              <a:t>of</a:t>
            </a:r>
            <a:r>
              <a:rPr spc="-19"/>
              <a:t> </a:t>
            </a:r>
            <a:r>
              <a:t>Oriented</a:t>
            </a:r>
            <a:r>
              <a:rPr spc="-15"/>
              <a:t> </a:t>
            </a:r>
            <a:r>
              <a:t>Gradients</a:t>
            </a:r>
            <a:r>
              <a:rPr spc="-45"/>
              <a:t> </a:t>
            </a:r>
            <a:r>
              <a:t>for</a:t>
            </a:r>
            <a:r>
              <a:rPr spc="-19"/>
              <a:t> </a:t>
            </a:r>
            <a:r>
              <a:t>Human</a:t>
            </a:r>
            <a:r>
              <a:rPr spc="-15"/>
              <a:t> </a:t>
            </a:r>
            <a:r>
              <a:t>Detection."</a:t>
            </a:r>
            <a:r>
              <a:rPr spc="-15"/>
              <a:t> </a:t>
            </a:r>
            <a:r>
              <a:t>CVPR,</a:t>
            </a:r>
            <a:r>
              <a:rPr spc="-15"/>
              <a:t> </a:t>
            </a:r>
            <a:r>
              <a:rPr spc="-9"/>
              <a:t>2005. </a:t>
            </a:r>
            <a:r>
              <a:t>This</a:t>
            </a:r>
            <a:r>
              <a:rPr spc="15"/>
              <a:t> </a:t>
            </a:r>
            <a:r>
              <a:t>paper</a:t>
            </a:r>
            <a:r>
              <a:rPr spc="-15"/>
              <a:t> </a:t>
            </a:r>
            <a:r>
              <a:t>proposed</a:t>
            </a:r>
            <a:r>
              <a:rPr spc="-19"/>
              <a:t> </a:t>
            </a:r>
            <a:r>
              <a:t>HOG</a:t>
            </a:r>
            <a:r>
              <a:rPr spc="-45"/>
              <a:t> </a:t>
            </a:r>
            <a:r>
              <a:t>features,</a:t>
            </a:r>
            <a:r>
              <a:rPr spc="-15"/>
              <a:t> </a:t>
            </a:r>
            <a:r>
              <a:t>a</a:t>
            </a:r>
            <a:r>
              <a:rPr spc="4"/>
              <a:t> </a:t>
            </a:r>
            <a:r>
              <a:t>strong</a:t>
            </a:r>
            <a:r>
              <a:rPr spc="-15"/>
              <a:t> </a:t>
            </a:r>
            <a:r>
              <a:t>method</a:t>
            </a:r>
            <a:r>
              <a:rPr spc="-19"/>
              <a:t> </a:t>
            </a:r>
            <a:r>
              <a:t>for</a:t>
            </a:r>
            <a:r>
              <a:rPr spc="-15"/>
              <a:t> </a:t>
            </a:r>
            <a:r>
              <a:t>detecting</a:t>
            </a:r>
            <a:r>
              <a:rPr spc="-15"/>
              <a:t> </a:t>
            </a:r>
            <a:r>
              <a:t>humans</a:t>
            </a:r>
            <a:r>
              <a:rPr spc="-45"/>
              <a:t> </a:t>
            </a:r>
            <a:r>
              <a:t>in</a:t>
            </a:r>
            <a:r>
              <a:rPr spc="-15"/>
              <a:t> </a:t>
            </a:r>
            <a:r>
              <a:rPr spc="-9"/>
              <a:t>images.</a:t>
            </a:r>
          </a:p>
          <a:p>
            <a:pPr marL="355600" marR="1401444" indent="-343534">
              <a:lnSpc>
                <a:spcPts val="3200"/>
              </a:lnSpc>
              <a:buSzPct val="100000"/>
              <a:buAutoNum type="arabicPeriod" startAt="3"/>
              <a:tabLst>
                <a:tab pos="355600" algn="l"/>
              </a:tabLst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Suryawanshi,</a:t>
            </a:r>
            <a:r>
              <a:rPr spc="-35"/>
              <a:t> </a:t>
            </a:r>
            <a:r>
              <a:rPr spc="-75"/>
              <a:t>P.</a:t>
            </a:r>
            <a:r>
              <a:rPr spc="-35"/>
              <a:t> </a:t>
            </a:r>
            <a:r>
              <a:t>et</a:t>
            </a:r>
            <a:r>
              <a:rPr spc="-9"/>
              <a:t> </a:t>
            </a:r>
            <a:r>
              <a:t>al.</a:t>
            </a:r>
            <a:r>
              <a:rPr spc="-35"/>
              <a:t> </a:t>
            </a:r>
            <a:r>
              <a:t>"Traffic</a:t>
            </a:r>
            <a:r>
              <a:rPr spc="-15"/>
              <a:t> </a:t>
            </a:r>
            <a:r>
              <a:t>Sign</a:t>
            </a:r>
            <a:r>
              <a:rPr spc="-30"/>
              <a:t> </a:t>
            </a:r>
            <a:r>
              <a:t>Recognition</a:t>
            </a:r>
            <a:r>
              <a:rPr spc="-35"/>
              <a:t> </a:t>
            </a:r>
            <a:r>
              <a:t>Using</a:t>
            </a:r>
            <a:r>
              <a:rPr spc="-30"/>
              <a:t> </a:t>
            </a:r>
            <a:r>
              <a:t>Deep</a:t>
            </a:r>
            <a:r>
              <a:rPr spc="-35"/>
              <a:t> </a:t>
            </a:r>
            <a:r>
              <a:t>Learning</a:t>
            </a:r>
            <a:r>
              <a:rPr spc="-104"/>
              <a:t> </a:t>
            </a:r>
            <a:r>
              <a:rPr spc="-9"/>
              <a:t>Techniques."</a:t>
            </a:r>
            <a:r>
              <a:rPr spc="-25"/>
              <a:t> </a:t>
            </a:r>
            <a:r>
              <a:t>IJCA,</a:t>
            </a:r>
            <a:r>
              <a:rPr spc="-30"/>
              <a:t> </a:t>
            </a:r>
            <a:r>
              <a:rPr spc="-9"/>
              <a:t>2020. </a:t>
            </a:r>
            <a:r>
              <a:t>This study</a:t>
            </a:r>
            <a:r>
              <a:rPr spc="-25"/>
              <a:t> </a:t>
            </a:r>
            <a:r>
              <a:t>applied</a:t>
            </a:r>
            <a:r>
              <a:rPr spc="-30"/>
              <a:t> </a:t>
            </a:r>
            <a:r>
              <a:t>deep-learning</a:t>
            </a:r>
            <a:r>
              <a:rPr spc="-25"/>
              <a:t> </a:t>
            </a:r>
            <a:r>
              <a:t>methods</a:t>
            </a:r>
            <a:r>
              <a:rPr spc="-60"/>
              <a:t> </a:t>
            </a:r>
            <a:r>
              <a:t>to</a:t>
            </a:r>
            <a:r>
              <a:rPr spc="-30"/>
              <a:t> </a:t>
            </a:r>
            <a:r>
              <a:t>improve</a:t>
            </a:r>
            <a:r>
              <a:rPr spc="-15"/>
              <a:t> </a:t>
            </a:r>
            <a:r>
              <a:t>traffic</a:t>
            </a:r>
            <a:r>
              <a:rPr spc="-4"/>
              <a:t> </a:t>
            </a:r>
            <a:r>
              <a:t>sign</a:t>
            </a:r>
            <a:r>
              <a:rPr spc="-30"/>
              <a:t> </a:t>
            </a:r>
            <a:r>
              <a:t>recognition</a:t>
            </a:r>
            <a:r>
              <a:rPr spc="-25"/>
              <a:t> </a:t>
            </a:r>
            <a:r>
              <a:rPr spc="-9"/>
              <a:t>accuracy.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1179</Words>
  <Application>Microsoft Office PowerPoint</Application>
  <PresentationFormat>Widescreen</PresentationFormat>
  <Paragraphs>147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Helvetica</vt:lpstr>
      <vt:lpstr>Helvetica Neue</vt:lpstr>
      <vt:lpstr>Times New Roman</vt:lpstr>
      <vt:lpstr>Office Theme</vt:lpstr>
      <vt:lpstr> </vt:lpstr>
      <vt:lpstr>Introduction</vt:lpstr>
      <vt:lpstr>PROBLEM STATEMENT</vt:lpstr>
      <vt:lpstr>LITERATURE REVIEW</vt:lpstr>
      <vt:lpstr>PowerPoint Presentation</vt:lpstr>
      <vt:lpstr>System Architecture</vt:lpstr>
      <vt:lpstr>MODULE-1</vt:lpstr>
      <vt:lpstr>PowerPoint Presentation</vt:lpstr>
      <vt:lpstr>MODULE-2</vt:lpstr>
      <vt:lpstr>PowerPoint Presentation</vt:lpstr>
      <vt:lpstr>MODULE-3</vt:lpstr>
      <vt:lpstr>PowerPoint Presentation</vt:lpstr>
      <vt:lpstr>MODULE – 4 VEHICLE CONTROL AND DECISION  MAKING</vt:lpstr>
      <vt:lpstr>MODULE-4 OUTPUT</vt:lpstr>
      <vt:lpstr>PowerPoint Presentation</vt:lpstr>
      <vt:lpstr>MODULE - 5 DATA FUSION AND ENVIRONMENTAL PERCEPTION - OUTPUT</vt:lpstr>
      <vt:lpstr>IMPLEMENTATION</vt:lpstr>
      <vt:lpstr>RESULT</vt:lpstr>
      <vt:lpstr>FUTURE SCOPE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sayta karthik</dc:creator>
  <cp:lastModifiedBy>sayta karthik</cp:lastModifiedBy>
  <cp:revision>2</cp:revision>
  <dcterms:modified xsi:type="dcterms:W3CDTF">2026-08-28T08:25:15Z</dcterms:modified>
</cp:coreProperties>
</file>